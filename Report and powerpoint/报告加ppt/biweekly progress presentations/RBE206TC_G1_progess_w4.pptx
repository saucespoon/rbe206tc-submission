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5.svg" ContentType="image/svg+xml"/>
  <Override PartName="/ppt/media/image17.svg" ContentType="image/svg+xml"/>
  <Override PartName="/ppt/media/image20.svg" ContentType="image/svg+xml"/>
  <Override PartName="/ppt/media/image22.svg" ContentType="image/svg+xml"/>
  <Override PartName="/ppt/media/image24.svg" ContentType="image/svg+xml"/>
  <Override PartName="/ppt/media/image27.svg" ContentType="image/svg+xml"/>
  <Override PartName="/ppt/media/image3.svg" ContentType="image/svg+xml"/>
  <Override PartName="/ppt/media/image30.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3" r:id="rId11"/>
    <p:sldId id="262"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Hello everyone, welcome to our weekly progress report for the Biped Robot project. Today, I'll walk you through what we accomplished this week, the challenges we faced, and our plan for next steps.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Here's a quick overview of what we'll cover today: first, what we managed to accomplish this week, then the challenges we ran into, followed by our plan for next week, and finally, we'll open it up for questions.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This week, we focused on the electrical side of things. We got all the motors connected and confirmed they work. We also finalized where all the wires and pins need to go, which sets us up nicely for programming the robot's movements.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On the mechanical side, we hit a snag. The 3D printed parts we made didn't fit the motors properly because we didn't leave enough space in the design. So, we had to stop assembling the robot and go back to the drawing board for those parts.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So, here's our plan to fix this: first, we'll redesign the 3D parts to make sure the motors fit. Then we'll print the new parts, put the robot together again, and start testing the motors to get it moving.</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To sum up: the electrical system is done and working well. The only hold-up is the mechanical part, which we know how to fix. Overall, we're still on track, and we're looking forward to getting the robot assembled and moving next week.</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Thanks again for your time and attention!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That's my update for this week. I'll now open it up for any questions you might have.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2.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image" Target="../media/image5.jpeg"/><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image" Target="../media/image4.jpeg"/><Relationship Id="rId3" Type="http://schemas.openxmlformats.org/officeDocument/2006/relationships/tags" Target="../tags/tag2.xml"/><Relationship Id="rId2" Type="http://schemas.openxmlformats.org/officeDocument/2006/relationships/tags" Target="../tags/tag1.xml"/><Relationship Id="rId19" Type="http://schemas.openxmlformats.org/officeDocument/2006/relationships/notesSlide" Target="../notesSlides/notesSlide2.xml"/><Relationship Id="rId18" Type="http://schemas.openxmlformats.org/officeDocument/2006/relationships/slideLayout" Target="../slideLayouts/slideLayout12.xml"/><Relationship Id="rId17" Type="http://schemas.openxmlformats.org/officeDocument/2006/relationships/tags" Target="../tags/tag12.xml"/><Relationship Id="rId16" Type="http://schemas.openxmlformats.org/officeDocument/2006/relationships/image" Target="../media/image7.jpeg"/><Relationship Id="rId15" Type="http://schemas.openxmlformats.org/officeDocument/2006/relationships/tags" Target="../tags/tag11.xml"/><Relationship Id="rId14" Type="http://schemas.openxmlformats.org/officeDocument/2006/relationships/tags" Target="../tags/tag10.xml"/><Relationship Id="rId13" Type="http://schemas.openxmlformats.org/officeDocument/2006/relationships/tags" Target="../tags/tag9.xml"/><Relationship Id="rId12" Type="http://schemas.openxmlformats.org/officeDocument/2006/relationships/image" Target="../media/image6.jpeg"/><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2.jpeg"/><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image" Target="../media/image11.svg"/><Relationship Id="rId4" Type="http://schemas.openxmlformats.org/officeDocument/2006/relationships/image" Target="../media/image10.png"/><Relationship Id="rId3" Type="http://schemas.openxmlformats.org/officeDocument/2006/relationships/image" Target="../media/image9.svg"/><Relationship Id="rId2" Type="http://schemas.openxmlformats.org/officeDocument/2006/relationships/image" Target="../media/image8.png"/><Relationship Id="rId10" Type="http://schemas.openxmlformats.org/officeDocument/2006/relationships/notesSlide" Target="../notesSlides/notesSlide3.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2.xml"/><Relationship Id="rId2" Type="http://schemas.openxmlformats.org/officeDocument/2006/relationships/image" Target="../media/image18.jpe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5.png"/><Relationship Id="rId7" Type="http://schemas.openxmlformats.org/officeDocument/2006/relationships/image" Target="../media/image24.svg"/><Relationship Id="rId6" Type="http://schemas.openxmlformats.org/officeDocument/2006/relationships/image" Target="../media/image23.png"/><Relationship Id="rId5" Type="http://schemas.openxmlformats.org/officeDocument/2006/relationships/image" Target="../media/image22.svg"/><Relationship Id="rId4" Type="http://schemas.openxmlformats.org/officeDocument/2006/relationships/image" Target="../media/image21.png"/><Relationship Id="rId3" Type="http://schemas.openxmlformats.org/officeDocument/2006/relationships/image" Target="../media/image20.svg"/><Relationship Id="rId2" Type="http://schemas.openxmlformats.org/officeDocument/2006/relationships/image" Target="../media/image19.png"/><Relationship Id="rId10" Type="http://schemas.openxmlformats.org/officeDocument/2006/relationships/notesSlide" Target="../notesSlides/notesSlide6.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2.xml"/><Relationship Id="rId4" Type="http://schemas.openxmlformats.org/officeDocument/2006/relationships/image" Target="../media/image28.png"/><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2.xml"/><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7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381000" y="381000"/>
            <a:ext cx="11430000" cy="6096000"/>
          </a:xfrm>
          <a:prstGeom prst="roundRect">
            <a:avLst>
              <a:gd name="adj" fmla="val 0"/>
            </a:avLst>
          </a:prstGeom>
          <a:solidFill>
            <a:srgbClr val="FFFFFF">
              <a:alpha val="0"/>
            </a:srgbClr>
          </a:solidFill>
          <a:ln w="12700" cap="flat" cmpd="sng">
            <a:solidFill>
              <a:srgbClr val="64FFDA">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91200" y="1270000"/>
            <a:ext cx="609600" cy="609600"/>
          </a:xfrm>
          <a:prstGeom prst="rect">
            <a:avLst/>
          </a:prstGeom>
        </p:spPr>
      </p:pic>
      <p:sp>
        <p:nvSpPr>
          <p:cNvPr id="6" name="AutoShape 6"/>
          <p:cNvSpPr/>
          <p:nvPr/>
        </p:nvSpPr>
        <p:spPr>
          <a:xfrm>
            <a:off x="635000" y="2032000"/>
            <a:ext cx="10922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Biped Robot Project - Weekly Progress Report</a:t>
            </a:r>
            <a:endParaRPr lang="en-US" sz="1100"/>
          </a:p>
        </p:txBody>
      </p:sp>
      <p:sp>
        <p:nvSpPr>
          <p:cNvPr id="7" name="AutoShape 7"/>
          <p:cNvSpPr/>
          <p:nvPr/>
        </p:nvSpPr>
        <p:spPr>
          <a:xfrm>
            <a:off x="635000" y="2794000"/>
            <a:ext cx="10922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0" i="0" u="none" strike="noStrike" spc="200">
                <a:solidFill>
                  <a:srgbClr val="64FFDA"/>
                </a:solidFill>
                <a:latin typeface="Noto Sans SC" panose="020B0200000000000000" charset="-122"/>
                <a:ea typeface="Noto Sans SC" panose="020B0200000000000000" charset="-122"/>
                <a:cs typeface="Noto Sans SC" panose="020B0200000000000000" charset="-122"/>
                <a:sym typeface="Noto Sans SC" panose="020B0200000000000000" charset="-122"/>
              </a:rPr>
              <a:t>Team Update - Week 3</a:t>
            </a:r>
            <a:endParaRPr lang="en-US" sz="1100"/>
          </a:p>
        </p:txBody>
      </p:sp>
      <p:cxnSp>
        <p:nvCxnSpPr>
          <p:cNvPr id="8" name="Connector 8"/>
          <p:cNvCxnSpPr/>
          <p:nvPr/>
        </p:nvCxnSpPr>
        <p:spPr>
          <a:xfrm rot="-34376">
            <a:off x="5461032" y="3549650"/>
            <a:ext cx="1270000" cy="12700"/>
          </a:xfrm>
          <a:prstGeom prst="straightConnector1">
            <a:avLst/>
          </a:prstGeom>
          <a:solidFill>
            <a:srgbClr val="DEE0E3">
              <a:alpha val="100000"/>
            </a:srgbClr>
          </a:solidFill>
          <a:ln w="12700" cap="flat" cmpd="sng">
            <a:solidFill>
              <a:srgbClr val="FFFFFF">
                <a:alpha val="50000"/>
              </a:srgbClr>
            </a:solidFill>
            <a:prstDash val="solid"/>
            <a:round/>
            <a:headEnd type="none" w="med" len="med"/>
            <a:tailEnd type="none" w="med" len="med"/>
          </a:ln>
        </p:spPr>
      </p:cxnSp>
      <p:sp>
        <p:nvSpPr>
          <p:cNvPr id="9" name="AutoShape 9"/>
          <p:cNvSpPr/>
          <p:nvPr/>
        </p:nvSpPr>
        <p:spPr>
          <a:xfrm>
            <a:off x="635000" y="3937000"/>
            <a:ext cx="1092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Presented </a:t>
            </a:r>
            <a:endParaRPr lang="en-US" sz="1100"/>
          </a:p>
        </p:txBody>
      </p:sp>
      <p:sp>
        <p:nvSpPr>
          <p:cNvPr id="10" name="AutoShape 10"/>
          <p:cNvSpPr/>
          <p:nvPr/>
        </p:nvSpPr>
        <p:spPr>
          <a:xfrm>
            <a:off x="635000" y="4318000"/>
            <a:ext cx="1092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Date: March 2026</a:t>
            </a:r>
            <a:endParaRPr lang="en-US" sz="1100"/>
          </a:p>
        </p:txBody>
      </p:sp>
      <p:sp>
        <p:nvSpPr>
          <p:cNvPr id="11" name="AutoShape 11"/>
          <p:cNvSpPr/>
          <p:nvPr/>
        </p:nvSpPr>
        <p:spPr>
          <a:xfrm>
            <a:off x="5715000" y="5334000"/>
            <a:ext cx="762000" cy="50800"/>
          </a:xfrm>
          <a:prstGeom prst="roundRect">
            <a:avLst>
              <a:gd name="adj" fmla="val 0"/>
            </a:avLst>
          </a:prstGeom>
          <a:solidFill>
            <a:srgbClr val="64FFDA">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635000"/>
            <a:ext cx="40259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CONTENTS</a:t>
            </a:r>
            <a:endParaRPr lang="en-US" sz="1100"/>
          </a:p>
        </p:txBody>
      </p:sp>
      <p:sp>
        <p:nvSpPr>
          <p:cNvPr id="5" name="AutoShape 5"/>
          <p:cNvSpPr/>
          <p:nvPr/>
        </p:nvSpPr>
        <p:spPr>
          <a:xfrm>
            <a:off x="762000" y="1333500"/>
            <a:ext cx="762000" cy="50800"/>
          </a:xfrm>
          <a:prstGeom prst="roundRect">
            <a:avLst>
              <a:gd name="adj" fmla="val 0"/>
            </a:avLst>
          </a:prstGeom>
          <a:solidFill>
            <a:srgbClr val="64FFDA">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2"/>
            </p:custDataLst>
          </p:nvPr>
        </p:nvSpPr>
        <p:spPr>
          <a:xfrm>
            <a:off x="6096000" y="1524000"/>
            <a:ext cx="4826000" cy="889000"/>
          </a:xfrm>
          <a:prstGeom prst="roundRect">
            <a:avLst>
              <a:gd name="adj" fmla="val 14285"/>
            </a:avLst>
          </a:prstGeom>
          <a:solidFill>
            <a:srgbClr val="FFFFFF">
              <a:alpha val="5000"/>
            </a:srgbClr>
          </a:solidFill>
          <a:ln w="12700" cap="flat" cmpd="sng">
            <a:solidFill>
              <a:srgbClr val="64FFDA">
                <a:alpha val="3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3"/>
            </p:custDataLst>
          </p:nvPr>
        </p:nvPicPr>
        <p:blipFill>
          <a:blip r:embed="rId4"/>
          <a:srcRect/>
          <a:stretch>
            <a:fillRect/>
          </a:stretch>
        </p:blipFill>
        <p:spPr>
          <a:xfrm>
            <a:off x="6350000" y="1714500"/>
            <a:ext cx="508000" cy="508000"/>
          </a:xfrm>
          <a:prstGeom prst="rect">
            <a:avLst/>
          </a:prstGeom>
          <a:noFill/>
          <a:ln w="25400" cap="flat" cmpd="sng">
            <a:noFill/>
            <a:prstDash val="solid"/>
            <a:round/>
          </a:ln>
        </p:spPr>
      </p:pic>
      <p:sp>
        <p:nvSpPr>
          <p:cNvPr id="8" name="AutoShape 8"/>
          <p:cNvSpPr/>
          <p:nvPr>
            <p:custDataLst>
              <p:tags r:id="rId5"/>
            </p:custDataLst>
          </p:nvPr>
        </p:nvSpPr>
        <p:spPr>
          <a:xfrm>
            <a:off x="6985000" y="17145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1.What We Got Done This Week</a:t>
            </a:r>
            <a:endParaRPr lang="en-US" sz="1100"/>
          </a:p>
        </p:txBody>
      </p:sp>
      <p:sp>
        <p:nvSpPr>
          <p:cNvPr id="9" name="AutoShape 9"/>
          <p:cNvSpPr/>
          <p:nvPr>
            <p:custDataLst>
              <p:tags r:id="rId6"/>
            </p:custDataLst>
          </p:nvPr>
        </p:nvSpPr>
        <p:spPr>
          <a:xfrm>
            <a:off x="6096000" y="2603500"/>
            <a:ext cx="4826000" cy="889000"/>
          </a:xfrm>
          <a:prstGeom prst="roundRect">
            <a:avLst>
              <a:gd name="adj" fmla="val 14285"/>
            </a:avLst>
          </a:prstGeom>
          <a:solidFill>
            <a:srgbClr val="FFFFFF">
              <a:alpha val="5000"/>
            </a:srgbClr>
          </a:solidFill>
          <a:ln w="12700" cap="flat" cmpd="sng">
            <a:solidFill>
              <a:srgbClr val="64FFDA">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custDataLst>
              <p:tags r:id="rId7"/>
            </p:custDataLst>
          </p:nvPr>
        </p:nvPicPr>
        <p:blipFill>
          <a:blip r:embed="rId8"/>
          <a:srcRect/>
          <a:stretch>
            <a:fillRect/>
          </a:stretch>
        </p:blipFill>
        <p:spPr>
          <a:xfrm>
            <a:off x="6350000" y="2794000"/>
            <a:ext cx="508000" cy="508000"/>
          </a:xfrm>
          <a:prstGeom prst="rect">
            <a:avLst/>
          </a:prstGeom>
          <a:noFill/>
          <a:ln w="25400" cap="flat" cmpd="sng">
            <a:noFill/>
            <a:prstDash val="solid"/>
            <a:round/>
          </a:ln>
        </p:spPr>
      </p:pic>
      <p:sp>
        <p:nvSpPr>
          <p:cNvPr id="11" name="AutoShape 11"/>
          <p:cNvSpPr/>
          <p:nvPr>
            <p:custDataLst>
              <p:tags r:id="rId9"/>
            </p:custDataLst>
          </p:nvPr>
        </p:nvSpPr>
        <p:spPr>
          <a:xfrm>
            <a:off x="6985000" y="27940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2.Challenges We Hit</a:t>
            </a:r>
            <a:endParaRPr lang="en-US" sz="1100"/>
          </a:p>
        </p:txBody>
      </p:sp>
      <p:sp>
        <p:nvSpPr>
          <p:cNvPr id="12" name="AutoShape 12"/>
          <p:cNvSpPr/>
          <p:nvPr>
            <p:custDataLst>
              <p:tags r:id="rId10"/>
            </p:custDataLst>
          </p:nvPr>
        </p:nvSpPr>
        <p:spPr>
          <a:xfrm>
            <a:off x="6096000" y="3683000"/>
            <a:ext cx="4826000" cy="889000"/>
          </a:xfrm>
          <a:prstGeom prst="roundRect">
            <a:avLst>
              <a:gd name="adj" fmla="val 14285"/>
            </a:avLst>
          </a:prstGeom>
          <a:solidFill>
            <a:srgbClr val="FFFFFF">
              <a:alpha val="5000"/>
            </a:srgbClr>
          </a:solidFill>
          <a:ln w="12700" cap="flat" cmpd="sng">
            <a:solidFill>
              <a:srgbClr val="64FFDA">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custDataLst>
              <p:tags r:id="rId11"/>
            </p:custDataLst>
          </p:nvPr>
        </p:nvPicPr>
        <p:blipFill>
          <a:blip r:embed="rId12"/>
          <a:srcRect/>
          <a:stretch>
            <a:fillRect/>
          </a:stretch>
        </p:blipFill>
        <p:spPr>
          <a:xfrm>
            <a:off x="6350000" y="3873500"/>
            <a:ext cx="508000" cy="508000"/>
          </a:xfrm>
          <a:prstGeom prst="rect">
            <a:avLst/>
          </a:prstGeom>
          <a:noFill/>
          <a:ln w="25400" cap="flat" cmpd="sng">
            <a:noFill/>
            <a:prstDash val="solid"/>
            <a:round/>
          </a:ln>
        </p:spPr>
      </p:pic>
      <p:sp>
        <p:nvSpPr>
          <p:cNvPr id="14" name="AutoShape 14"/>
          <p:cNvSpPr/>
          <p:nvPr>
            <p:custDataLst>
              <p:tags r:id="rId13"/>
            </p:custDataLst>
          </p:nvPr>
        </p:nvSpPr>
        <p:spPr>
          <a:xfrm>
            <a:off x="6985000" y="38735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3.Our Plan for Next Week</a:t>
            </a:r>
            <a:endParaRPr lang="en-US" sz="1100"/>
          </a:p>
        </p:txBody>
      </p:sp>
      <p:sp>
        <p:nvSpPr>
          <p:cNvPr id="15" name="AutoShape 15"/>
          <p:cNvSpPr/>
          <p:nvPr>
            <p:custDataLst>
              <p:tags r:id="rId14"/>
            </p:custDataLst>
          </p:nvPr>
        </p:nvSpPr>
        <p:spPr>
          <a:xfrm>
            <a:off x="6096000" y="4762500"/>
            <a:ext cx="4826000" cy="889000"/>
          </a:xfrm>
          <a:prstGeom prst="roundRect">
            <a:avLst>
              <a:gd name="adj" fmla="val 14285"/>
            </a:avLst>
          </a:prstGeom>
          <a:solidFill>
            <a:srgbClr val="FFFFFF">
              <a:alpha val="5000"/>
            </a:srgbClr>
          </a:solidFill>
          <a:ln w="12700" cap="flat" cmpd="sng">
            <a:solidFill>
              <a:srgbClr val="64FFDA">
                <a:alpha val="3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custDataLst>
              <p:tags r:id="rId15"/>
            </p:custDataLst>
          </p:nvPr>
        </p:nvPicPr>
        <p:blipFill>
          <a:blip r:embed="rId16"/>
          <a:srcRect/>
          <a:stretch>
            <a:fillRect/>
          </a:stretch>
        </p:blipFill>
        <p:spPr>
          <a:xfrm>
            <a:off x="6350000" y="4953000"/>
            <a:ext cx="508000" cy="508000"/>
          </a:xfrm>
          <a:prstGeom prst="rect">
            <a:avLst/>
          </a:prstGeom>
          <a:noFill/>
          <a:ln w="25400" cap="flat" cmpd="sng">
            <a:noFill/>
            <a:prstDash val="solid"/>
            <a:round/>
          </a:ln>
        </p:spPr>
      </p:pic>
      <p:sp>
        <p:nvSpPr>
          <p:cNvPr id="17" name="AutoShape 17"/>
          <p:cNvSpPr/>
          <p:nvPr>
            <p:custDataLst>
              <p:tags r:id="rId17"/>
            </p:custDataLst>
          </p:nvPr>
        </p:nvSpPr>
        <p:spPr>
          <a:xfrm>
            <a:off x="6985000" y="49530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4.Q&amp;A / Open Discussion</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635000"/>
            <a:ext cx="7620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FFFFFF"/>
                </a:solidFill>
                <a:latin typeface="Poppins"/>
                <a:ea typeface="Poppins"/>
                <a:cs typeface="Poppins"/>
                <a:sym typeface="Poppins"/>
              </a:rPr>
              <a:t>What We Got Done This Week</a:t>
            </a:r>
            <a:endParaRPr lang="en-US" sz="1100"/>
          </a:p>
        </p:txBody>
      </p:sp>
      <p:sp>
        <p:nvSpPr>
          <p:cNvPr id="5" name="AutoShape 5"/>
          <p:cNvSpPr/>
          <p:nvPr/>
        </p:nvSpPr>
        <p:spPr>
          <a:xfrm>
            <a:off x="762000" y="1333500"/>
            <a:ext cx="762000" cy="50800"/>
          </a:xfrm>
          <a:prstGeom prst="roundRect">
            <a:avLst>
              <a:gd name="adj" fmla="val 0"/>
            </a:avLst>
          </a:prstGeom>
          <a:solidFill>
            <a:srgbClr val="64FFDA">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1651000"/>
            <a:ext cx="5080000" cy="1778000"/>
          </a:xfrm>
          <a:prstGeom prst="roundRect">
            <a:avLst>
              <a:gd name="adj" fmla="val 7142"/>
            </a:avLst>
          </a:prstGeom>
          <a:solidFill>
            <a:srgbClr val="FFFFFF">
              <a:alpha val="5000"/>
            </a:srgbClr>
          </a:solidFill>
          <a:ln w="12700" cap="flat" cmpd="sng">
            <a:solidFill>
              <a:srgbClr val="64FFDA">
                <a:alpha val="3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841500"/>
            <a:ext cx="406400" cy="406400"/>
          </a:xfrm>
          <a:prstGeom prst="rect">
            <a:avLst/>
          </a:prstGeom>
        </p:spPr>
      </p:pic>
      <p:sp>
        <p:nvSpPr>
          <p:cNvPr id="8" name="AutoShape 8"/>
          <p:cNvSpPr/>
          <p:nvPr/>
        </p:nvSpPr>
        <p:spPr>
          <a:xfrm>
            <a:off x="1524000" y="1803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64FFDA"/>
                </a:solidFill>
                <a:latin typeface="Poppins"/>
                <a:ea typeface="Poppins"/>
                <a:cs typeface="Poppins"/>
                <a:sym typeface="Poppins"/>
              </a:rPr>
              <a:t>Got all the motors wired up and working!</a:t>
            </a:r>
            <a:endParaRPr lang="en-US" sz="1100"/>
          </a:p>
        </p:txBody>
      </p:sp>
      <p:sp>
        <p:nvSpPr>
          <p:cNvPr id="9" name="AutoShape 9"/>
          <p:cNvSpPr/>
          <p:nvPr/>
        </p:nvSpPr>
        <p:spPr>
          <a:xfrm>
            <a:off x="1016000" y="2286000"/>
            <a:ext cx="4318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DCDCDC"/>
                </a:solidFill>
                <a:latin typeface="Poppins"/>
                <a:ea typeface="Poppins"/>
                <a:cs typeface="Poppins"/>
                <a:sym typeface="Poppins"/>
              </a:rPr>
              <a:t>We successfully connected all the robot's motors and checked that they power up correctly.</a:t>
            </a:r>
            <a:endParaRPr lang="en-US" sz="1100"/>
          </a:p>
        </p:txBody>
      </p:sp>
      <p:sp>
        <p:nvSpPr>
          <p:cNvPr id="10" name="AutoShape 10"/>
          <p:cNvSpPr/>
          <p:nvPr/>
        </p:nvSpPr>
        <p:spPr>
          <a:xfrm>
            <a:off x="762000" y="3683000"/>
            <a:ext cx="5080000" cy="1778000"/>
          </a:xfrm>
          <a:prstGeom prst="roundRect">
            <a:avLst>
              <a:gd name="adj" fmla="val 7142"/>
            </a:avLst>
          </a:prstGeom>
          <a:solidFill>
            <a:srgbClr val="FFFFFF">
              <a:alpha val="5000"/>
            </a:srgbClr>
          </a:solidFill>
          <a:ln w="12700" cap="flat" cmpd="sng">
            <a:solidFill>
              <a:srgbClr val="64FFDA">
                <a:alpha val="3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873500"/>
            <a:ext cx="406400" cy="406400"/>
          </a:xfrm>
          <a:prstGeom prst="rect">
            <a:avLst/>
          </a:prstGeom>
        </p:spPr>
      </p:pic>
      <p:sp>
        <p:nvSpPr>
          <p:cNvPr id="12" name="AutoShape 12"/>
          <p:cNvSpPr/>
          <p:nvPr/>
        </p:nvSpPr>
        <p:spPr>
          <a:xfrm>
            <a:off x="1524000" y="3835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64FFDA"/>
                </a:solidFill>
                <a:latin typeface="Poppins"/>
                <a:ea typeface="Poppins"/>
                <a:cs typeface="Poppins"/>
                <a:sym typeface="Poppins"/>
              </a:rPr>
              <a:t>Figured out all the pin connections</a:t>
            </a:r>
            <a:endParaRPr lang="en-US" sz="1100"/>
          </a:p>
        </p:txBody>
      </p:sp>
      <p:sp>
        <p:nvSpPr>
          <p:cNvPr id="13" name="AutoShape 13"/>
          <p:cNvSpPr/>
          <p:nvPr/>
        </p:nvSpPr>
        <p:spPr>
          <a:xfrm>
            <a:off x="1016000" y="4318000"/>
            <a:ext cx="4318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DCDCDC"/>
                </a:solidFill>
                <a:latin typeface="Poppins"/>
                <a:ea typeface="Poppins"/>
                <a:cs typeface="Poppins"/>
                <a:sym typeface="Poppins"/>
              </a:rPr>
              <a:t>We mapped out and secured all the control and power pins, which is crucial for writing the control code later.</a:t>
            </a:r>
            <a:endParaRPr lang="en-US" sz="1100"/>
          </a:p>
        </p:txBody>
      </p:sp>
      <p:sp>
        <p:nvSpPr>
          <p:cNvPr id="16" name="AutoShape 16"/>
          <p:cNvSpPr/>
          <p:nvPr>
            <p:custDataLst>
              <p:tags r:id="rId6"/>
            </p:custDataLst>
          </p:nvPr>
        </p:nvSpPr>
        <p:spPr>
          <a:xfrm>
            <a:off x="6350000" y="3492500"/>
            <a:ext cx="2286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sp>
        <p:nvSpPr>
          <p:cNvPr id="19" name="AutoShape 19"/>
          <p:cNvSpPr/>
          <p:nvPr>
            <p:custDataLst>
              <p:tags r:id="rId7"/>
            </p:custDataLst>
          </p:nvPr>
        </p:nvSpPr>
        <p:spPr>
          <a:xfrm>
            <a:off x="8890000" y="3492500"/>
            <a:ext cx="2286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sp>
        <p:nvSpPr>
          <p:cNvPr id="20" name="AutoShape 20"/>
          <p:cNvSpPr/>
          <p:nvPr/>
        </p:nvSpPr>
        <p:spPr>
          <a:xfrm>
            <a:off x="6350000" y="4191000"/>
            <a:ext cx="482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sp>
        <p:nvSpPr>
          <p:cNvPr id="21" name="AutoShape 21"/>
          <p:cNvSpPr/>
          <p:nvPr/>
        </p:nvSpPr>
        <p:spPr>
          <a:xfrm>
            <a:off x="6350000" y="4699000"/>
            <a:ext cx="4826000" cy="762000"/>
          </a:xfrm>
          <a:prstGeom prst="roundRect">
            <a:avLst>
              <a:gd name="adj" fmla="val 16666"/>
            </a:avLst>
          </a:prstGeom>
          <a:solidFill>
            <a:srgbClr val="64FFDA">
              <a:alpha val="10000"/>
            </a:srgbClr>
          </a:solidFill>
          <a:ln w="12700" cap="flat" cmpd="sng">
            <a:solidFill>
              <a:srgbClr val="64FFDA">
                <a:alpha val="20000"/>
              </a:srgbClr>
            </a:solidFill>
            <a:prstDash val="dash"/>
            <a:round/>
          </a:ln>
        </p:spPr>
        <p:txBody>
          <a:bodyPr vert="horz" wrap="square" lIns="63500" tIns="63500" rIns="63500" bIns="63500" rtlCol="0" anchor="ctr"/>
          <a:lstStyle/>
          <a:p>
            <a:pPr algn="ctr">
              <a:defRPr/>
            </a:pPr>
          </a:p>
        </p:txBody>
      </p:sp>
      <p:sp>
        <p:nvSpPr>
          <p:cNvPr id="22" name="AutoShape 22"/>
          <p:cNvSpPr/>
          <p:nvPr/>
        </p:nvSpPr>
        <p:spPr>
          <a:xfrm>
            <a:off x="6477000" y="4826000"/>
            <a:ext cx="4572000" cy="508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a:solidFill>
                  <a:srgbClr val="FFFFFF">
                    <a:alpha val="60000"/>
                  </a:srgbClr>
                </a:solidFill>
                <a:latin typeface="Noto Sans SC" panose="020B0200000000000000" charset="-122"/>
                <a:ea typeface="Noto Sans SC" panose="020B0200000000000000" charset="-122"/>
                <a:cs typeface="Noto Sans SC" panose="020B0200000000000000" charset="-122"/>
              </a:rPr>
              <a:t>Next plan: Based on the confirmed pin definitions, start the development and integration testing of the underlying driver.</a:t>
            </a:r>
            <a:endParaRPr lang="en-US" sz="1400">
              <a:solidFill>
                <a:srgbClr val="FFFFFF">
                  <a:alpha val="60000"/>
                </a:srgbClr>
              </a:solidFill>
              <a:latin typeface="Noto Sans SC" panose="020B0200000000000000" charset="-122"/>
              <a:ea typeface="Noto Sans SC" panose="020B0200000000000000" charset="-122"/>
              <a:cs typeface="Noto Sans SC" panose="020B0200000000000000" charset="-122"/>
            </a:endParaRPr>
          </a:p>
        </p:txBody>
      </p:sp>
      <p:pic>
        <p:nvPicPr>
          <p:cNvPr id="23" name="图片 22" descr="c32a773cd9204afed7b7b8ad66ef5f8e"/>
          <p:cNvPicPr>
            <a:picLocks noChangeAspect="1"/>
          </p:cNvPicPr>
          <p:nvPr/>
        </p:nvPicPr>
        <p:blipFill>
          <a:blip r:embed="rId8"/>
          <a:stretch>
            <a:fillRect/>
          </a:stretch>
        </p:blipFill>
        <p:spPr>
          <a:xfrm>
            <a:off x="6646545" y="1332230"/>
            <a:ext cx="4319905" cy="32397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635000"/>
            <a:ext cx="5080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Challenges We Hit</a:t>
            </a:r>
            <a:endParaRPr lang="en-US" sz="1100"/>
          </a:p>
        </p:txBody>
      </p:sp>
      <p:sp>
        <p:nvSpPr>
          <p:cNvPr id="5" name="AutoShape 5"/>
          <p:cNvSpPr/>
          <p:nvPr/>
        </p:nvSpPr>
        <p:spPr>
          <a:xfrm>
            <a:off x="762000" y="1333500"/>
            <a:ext cx="762000" cy="50800"/>
          </a:xfrm>
          <a:prstGeom prst="roundRect">
            <a:avLst>
              <a:gd name="adj" fmla="val 0"/>
            </a:avLst>
          </a:prstGeom>
          <a:solidFill>
            <a:srgbClr val="64FFD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srcRect/>
          <a:stretch>
            <a:fillRect/>
          </a:stretch>
        </p:blipFill>
        <p:spPr>
          <a:xfrm>
            <a:off x="762000" y="1778000"/>
            <a:ext cx="3048000" cy="3048000"/>
          </a:xfrm>
          <a:prstGeom prst="roundRect">
            <a:avLst>
              <a:gd name="adj" fmla="val 8333"/>
            </a:avLst>
          </a:prstGeom>
          <a:noFill/>
          <a:ln w="25400" cap="flat" cmpd="sng">
            <a:solidFill>
              <a:srgbClr val="64FFDA">
                <a:alpha val="30000"/>
              </a:srgbClr>
            </a:solidFill>
            <a:prstDash val="solid"/>
            <a:round/>
          </a:ln>
          <a:effectLst>
            <a:outerShdw blurRad="254000" dist="127000" dir="5400000" algn="tl" rotWithShape="0">
              <a:srgbClr val="000000">
                <a:alpha val="50000"/>
              </a:srgbClr>
            </a:outerShdw>
          </a:effectLst>
        </p:spPr>
      </p:pic>
      <p:sp>
        <p:nvSpPr>
          <p:cNvPr id="7" name="AutoShape 7"/>
          <p:cNvSpPr/>
          <p:nvPr/>
        </p:nvSpPr>
        <p:spPr>
          <a:xfrm>
            <a:off x="4318000" y="1778000"/>
            <a:ext cx="6604000" cy="1397000"/>
          </a:xfrm>
          <a:prstGeom prst="roundRect">
            <a:avLst>
              <a:gd name="adj" fmla="val 9090"/>
            </a:avLst>
          </a:prstGeom>
          <a:solidFill>
            <a:srgbClr val="FFFFFF">
              <a:alpha val="5000"/>
            </a:srgbClr>
          </a:solidFill>
          <a:ln w="12700" cap="flat" cmpd="sng">
            <a:solidFill>
              <a:srgbClr val="64FFDA">
                <a:alpha val="2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2000" y="1968500"/>
            <a:ext cx="406400" cy="406400"/>
          </a:xfrm>
          <a:prstGeom prst="rect">
            <a:avLst/>
          </a:prstGeom>
        </p:spPr>
      </p:pic>
      <p:sp>
        <p:nvSpPr>
          <p:cNvPr id="9" name="AutoShape 9"/>
          <p:cNvSpPr/>
          <p:nvPr/>
        </p:nvSpPr>
        <p:spPr>
          <a:xfrm>
            <a:off x="5080000" y="1930400"/>
            <a:ext cx="571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64FFDA"/>
                </a:solidFill>
                <a:latin typeface="Poppins"/>
                <a:ea typeface="Poppins"/>
                <a:cs typeface="Poppins"/>
                <a:sym typeface="Poppins"/>
              </a:rPr>
              <a:t>3D printed parts didn't fit the motors</a:t>
            </a:r>
            <a:endParaRPr lang="en-US" sz="1100"/>
          </a:p>
        </p:txBody>
      </p:sp>
      <p:sp>
        <p:nvSpPr>
          <p:cNvPr id="10" name="AutoShape 10"/>
          <p:cNvSpPr/>
          <p:nvPr/>
        </p:nvSpPr>
        <p:spPr>
          <a:xfrm>
            <a:off x="5080000" y="2349500"/>
            <a:ext cx="5715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When we tried to fit the motors into the 3D printed parts, we realized the holes were too small—we didn't account for the motor's size tolerance in the design.</a:t>
            </a:r>
            <a:endParaRPr lang="en-US" sz="1100"/>
          </a:p>
        </p:txBody>
      </p:sp>
      <p:sp>
        <p:nvSpPr>
          <p:cNvPr id="11" name="AutoShape 11"/>
          <p:cNvSpPr/>
          <p:nvPr/>
        </p:nvSpPr>
        <p:spPr>
          <a:xfrm>
            <a:off x="4318000" y="3429000"/>
            <a:ext cx="6604000" cy="1397000"/>
          </a:xfrm>
          <a:prstGeom prst="roundRect">
            <a:avLst>
              <a:gd name="adj" fmla="val 9090"/>
            </a:avLst>
          </a:prstGeom>
          <a:solidFill>
            <a:srgbClr val="FFFFFF">
              <a:alpha val="5000"/>
            </a:srgbClr>
          </a:solidFill>
          <a:ln w="12700" cap="flat" cmpd="sng">
            <a:solidFill>
              <a:srgbClr val="64FFDA">
                <a:alpha val="2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72000" y="3619500"/>
            <a:ext cx="406400" cy="406400"/>
          </a:xfrm>
          <a:prstGeom prst="rect">
            <a:avLst/>
          </a:prstGeom>
        </p:spPr>
      </p:pic>
      <p:sp>
        <p:nvSpPr>
          <p:cNvPr id="13" name="AutoShape 13"/>
          <p:cNvSpPr/>
          <p:nvPr/>
        </p:nvSpPr>
        <p:spPr>
          <a:xfrm>
            <a:off x="5080000" y="3581400"/>
            <a:ext cx="571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64FFDA"/>
                </a:solidFill>
                <a:latin typeface="Poppins"/>
                <a:ea typeface="Poppins"/>
                <a:cs typeface="Poppins"/>
                <a:sym typeface="Poppins"/>
              </a:rPr>
              <a:t>Had to pause assembly</a:t>
            </a:r>
            <a:endParaRPr lang="en-US" sz="1100"/>
          </a:p>
        </p:txBody>
      </p:sp>
      <p:sp>
        <p:nvSpPr>
          <p:cNvPr id="14" name="AutoShape 14"/>
          <p:cNvSpPr/>
          <p:nvPr/>
        </p:nvSpPr>
        <p:spPr>
          <a:xfrm>
            <a:off x="5080000" y="4000500"/>
            <a:ext cx="5715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This meant we had to stop putting the robot together. We need to redesign and reprint those parts.</a:t>
            </a:r>
            <a:endParaRPr lang="en-US" sz="1100"/>
          </a:p>
        </p:txBody>
      </p:sp>
      <p:sp>
        <p:nvSpPr>
          <p:cNvPr id="15" name="AutoShape 15"/>
          <p:cNvSpPr/>
          <p:nvPr/>
        </p:nvSpPr>
        <p:spPr>
          <a:xfrm>
            <a:off x="762000" y="5334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1"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635000"/>
            <a:ext cx="25146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2400" b="1" i="0" u="none" strike="noStrike">
                <a:solidFill>
                  <a:srgbClr val="FFFFFF"/>
                </a:solidFill>
                <a:latin typeface="Poppins"/>
                <a:ea typeface="Poppins"/>
                <a:cs typeface="Poppins"/>
                <a:sym typeface="Poppins"/>
              </a:rPr>
              <a:t>Our Plan for Next Week</a:t>
            </a:r>
            <a:endParaRPr lang="en-US" sz="1100"/>
          </a:p>
        </p:txBody>
      </p:sp>
      <p:sp>
        <p:nvSpPr>
          <p:cNvPr id="5" name="AutoShape 5"/>
          <p:cNvSpPr/>
          <p:nvPr/>
        </p:nvSpPr>
        <p:spPr>
          <a:xfrm>
            <a:off x="762000" y="1524000"/>
            <a:ext cx="10668000" cy="1016000"/>
          </a:xfrm>
          <a:prstGeom prst="roundRect">
            <a:avLst>
              <a:gd name="adj" fmla="val 12500"/>
            </a:avLst>
          </a:prstGeom>
          <a:solidFill>
            <a:srgbClr val="FFFFFF">
              <a:alpha val="8000"/>
            </a:srgbClr>
          </a:solidFill>
          <a:ln w="12700" cap="flat" cmpd="sng">
            <a:solidFill>
              <a:srgbClr val="64FFDA">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srcRect/>
          <a:stretch>
            <a:fillRect/>
          </a:stretch>
        </p:blipFill>
        <p:spPr>
          <a:xfrm>
            <a:off x="1016000" y="1778000"/>
            <a:ext cx="508000" cy="508000"/>
          </a:xfrm>
          <a:prstGeom prst="rect">
            <a:avLst/>
          </a:prstGeom>
          <a:noFill/>
          <a:ln w="25400" cap="flat" cmpd="sng">
            <a:noFill/>
            <a:prstDash val="solid"/>
            <a:round/>
          </a:ln>
        </p:spPr>
      </p:pic>
      <p:sp>
        <p:nvSpPr>
          <p:cNvPr id="7" name="AutoShape 7"/>
          <p:cNvSpPr/>
          <p:nvPr/>
        </p:nvSpPr>
        <p:spPr>
          <a:xfrm>
            <a:off x="1651000" y="1651000"/>
            <a:ext cx="939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64FFDA"/>
                </a:solidFill>
                <a:latin typeface="Noto Sans SC" panose="020B0200000000000000" charset="-122"/>
                <a:ea typeface="Noto Sans SC" panose="020B0200000000000000" charset="-122"/>
                <a:cs typeface="Noto Sans SC" panose="020B0200000000000000" charset="-122"/>
                <a:sym typeface="Noto Sans SC" panose="020B0200000000000000" charset="-122"/>
              </a:rPr>
              <a:t>Redesign the 3D printed parts to fit the motors:</a:t>
            </a:r>
            <a:r>
              <a:rPr lang="en-US" sz="1600" b="0"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Modify the design to add more tolerance for the motors, ensuring they fit smoothly.</a:t>
            </a:r>
            <a:endParaRPr lang="en-US" sz="1100"/>
          </a:p>
        </p:txBody>
      </p:sp>
      <p:sp>
        <p:nvSpPr>
          <p:cNvPr id="8" name="AutoShape 8"/>
          <p:cNvSpPr/>
          <p:nvPr/>
        </p:nvSpPr>
        <p:spPr>
          <a:xfrm>
            <a:off x="762000" y="2667000"/>
            <a:ext cx="10668000" cy="1016000"/>
          </a:xfrm>
          <a:prstGeom prst="roundRect">
            <a:avLst>
              <a:gd name="adj" fmla="val 12500"/>
            </a:avLst>
          </a:prstGeom>
          <a:solidFill>
            <a:srgbClr val="FFFFFF">
              <a:alpha val="8000"/>
            </a:srgbClr>
          </a:solidFill>
          <a:ln w="12700" cap="flat" cmpd="sng">
            <a:solidFill>
              <a:srgbClr val="64FFDA">
                <a:alpha val="3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2"/>
          <a:srcRect/>
          <a:stretch>
            <a:fillRect/>
          </a:stretch>
        </p:blipFill>
        <p:spPr>
          <a:xfrm>
            <a:off x="1016000" y="2921000"/>
            <a:ext cx="508000" cy="508000"/>
          </a:xfrm>
          <a:prstGeom prst="rect">
            <a:avLst/>
          </a:prstGeom>
          <a:noFill/>
          <a:ln w="25400" cap="flat" cmpd="sng">
            <a:noFill/>
            <a:prstDash val="solid"/>
            <a:round/>
          </a:ln>
        </p:spPr>
      </p:pic>
      <p:sp>
        <p:nvSpPr>
          <p:cNvPr id="10" name="AutoShape 10"/>
          <p:cNvSpPr/>
          <p:nvPr/>
        </p:nvSpPr>
        <p:spPr>
          <a:xfrm>
            <a:off x="1651000" y="2794000"/>
            <a:ext cx="939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64FFDA"/>
                </a:solidFill>
                <a:latin typeface="Noto Sans SC" panose="020B0200000000000000" charset="-122"/>
                <a:ea typeface="Noto Sans SC" panose="020B0200000000000000" charset="-122"/>
                <a:cs typeface="Noto Sans SC" panose="020B0200000000000000" charset="-122"/>
                <a:sym typeface="Noto Sans SC" panose="020B0200000000000000" charset="-122"/>
              </a:rPr>
              <a:t>Print the new parts:</a:t>
            </a:r>
            <a:r>
              <a:rPr lang="en-US" sz="1600" b="0"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Print the mechanical parts according to the revised design.</a:t>
            </a:r>
            <a:endParaRPr lang="en-US" sz="1100"/>
          </a:p>
        </p:txBody>
      </p:sp>
      <p:sp>
        <p:nvSpPr>
          <p:cNvPr id="11" name="AutoShape 11"/>
          <p:cNvSpPr/>
          <p:nvPr/>
        </p:nvSpPr>
        <p:spPr>
          <a:xfrm>
            <a:off x="762000" y="3810000"/>
            <a:ext cx="10668000" cy="1016000"/>
          </a:xfrm>
          <a:prstGeom prst="roundRect">
            <a:avLst>
              <a:gd name="adj" fmla="val 12500"/>
            </a:avLst>
          </a:prstGeom>
          <a:solidFill>
            <a:srgbClr val="FFFFFF">
              <a:alpha val="8000"/>
            </a:srgbClr>
          </a:solidFill>
          <a:ln w="12700" cap="flat" cmpd="sng">
            <a:solidFill>
              <a:srgbClr val="64FFDA">
                <a:alpha val="3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2"/>
          <a:srcRect/>
          <a:stretch>
            <a:fillRect/>
          </a:stretch>
        </p:blipFill>
        <p:spPr>
          <a:xfrm>
            <a:off x="1016000" y="4064000"/>
            <a:ext cx="508000" cy="508000"/>
          </a:xfrm>
          <a:prstGeom prst="rect">
            <a:avLst/>
          </a:prstGeom>
          <a:noFill/>
          <a:ln w="25400" cap="flat" cmpd="sng">
            <a:noFill/>
            <a:prstDash val="solid"/>
            <a:round/>
          </a:ln>
        </p:spPr>
      </p:pic>
      <p:sp>
        <p:nvSpPr>
          <p:cNvPr id="13" name="AutoShape 13"/>
          <p:cNvSpPr/>
          <p:nvPr/>
        </p:nvSpPr>
        <p:spPr>
          <a:xfrm>
            <a:off x="1651000" y="3937000"/>
            <a:ext cx="939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64FFDA"/>
                </a:solidFill>
                <a:latin typeface="Noto Sans SC" panose="020B0200000000000000" charset="-122"/>
                <a:ea typeface="Noto Sans SC" panose="020B0200000000000000" charset="-122"/>
                <a:cs typeface="Noto Sans SC" panose="020B0200000000000000" charset="-122"/>
                <a:sym typeface="Noto Sans SC" panose="020B0200000000000000" charset="-122"/>
              </a:rPr>
              <a:t>Put the robot back together with the new parts:</a:t>
            </a:r>
            <a:r>
              <a:rPr lang="en-US" sz="1600" b="0"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Once the new parts are printed, immediately install the motors and reassemble the structure.</a:t>
            </a:r>
            <a:endParaRPr lang="en-US" sz="1100"/>
          </a:p>
        </p:txBody>
      </p:sp>
      <p:sp>
        <p:nvSpPr>
          <p:cNvPr id="14" name="AutoShape 14"/>
          <p:cNvSpPr/>
          <p:nvPr/>
        </p:nvSpPr>
        <p:spPr>
          <a:xfrm>
            <a:off x="762000" y="4953000"/>
            <a:ext cx="10668000" cy="1016000"/>
          </a:xfrm>
          <a:prstGeom prst="roundRect">
            <a:avLst>
              <a:gd name="adj" fmla="val 12500"/>
            </a:avLst>
          </a:prstGeom>
          <a:solidFill>
            <a:srgbClr val="FFFFFF">
              <a:alpha val="8000"/>
            </a:srgbClr>
          </a:solidFill>
          <a:ln w="12700" cap="flat" cmpd="sng">
            <a:solidFill>
              <a:srgbClr val="64FFDA">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2"/>
          <a:srcRect/>
          <a:stretch>
            <a:fillRect/>
          </a:stretch>
        </p:blipFill>
        <p:spPr>
          <a:xfrm>
            <a:off x="1016000" y="5207000"/>
            <a:ext cx="508000" cy="508000"/>
          </a:xfrm>
          <a:prstGeom prst="rect">
            <a:avLst/>
          </a:prstGeom>
          <a:noFill/>
          <a:ln w="25400" cap="flat" cmpd="sng">
            <a:noFill/>
            <a:prstDash val="solid"/>
            <a:round/>
          </a:ln>
        </p:spPr>
      </p:pic>
      <p:sp>
        <p:nvSpPr>
          <p:cNvPr id="16" name="AutoShape 16"/>
          <p:cNvSpPr/>
          <p:nvPr/>
        </p:nvSpPr>
        <p:spPr>
          <a:xfrm>
            <a:off x="1651000" y="5080000"/>
            <a:ext cx="939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64FFDA"/>
                </a:solidFill>
                <a:latin typeface="Noto Sans SC" panose="020B0200000000000000" charset="-122"/>
                <a:ea typeface="Noto Sans SC" panose="020B0200000000000000" charset="-122"/>
                <a:cs typeface="Noto Sans SC" panose="020B0200000000000000" charset="-122"/>
                <a:sym typeface="Noto Sans SC" panose="020B0200000000000000" charset="-122"/>
              </a:rPr>
              <a:t>Start testing the motors and try out some basic movements:</a:t>
            </a:r>
            <a:r>
              <a:rPr lang="en-US" sz="1600" b="0" i="0" u="none" strike="noStrike">
                <a:solidFill>
                  <a:srgbClr val="E6E6E6"/>
                </a:solidFill>
                <a:latin typeface="Noto Sans SC" panose="020B0200000000000000" charset="-122"/>
                <a:ea typeface="Noto Sans SC" panose="020B0200000000000000" charset="-122"/>
                <a:cs typeface="Noto Sans SC" panose="020B0200000000000000" charset="-122"/>
                <a:sym typeface="Noto Sans SC" panose="020B0200000000000000" charset="-122"/>
              </a:rPr>
              <a:t>After assembly, test the motor drivers and attempt simple gait debugging.</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635000"/>
            <a:ext cx="7620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Project Update Summary</a:t>
            </a:r>
            <a:endParaRPr lang="en-US" sz="1100"/>
          </a:p>
        </p:txBody>
      </p:sp>
      <p:sp>
        <p:nvSpPr>
          <p:cNvPr id="5" name="AutoShape 5"/>
          <p:cNvSpPr/>
          <p:nvPr/>
        </p:nvSpPr>
        <p:spPr>
          <a:xfrm>
            <a:off x="762000" y="1270000"/>
            <a:ext cx="508000" cy="50800"/>
          </a:xfrm>
          <a:prstGeom prst="roundRect">
            <a:avLst>
              <a:gd name="adj" fmla="val 0"/>
            </a:avLst>
          </a:prstGeom>
          <a:solidFill>
            <a:srgbClr val="64FFDA">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1651000"/>
            <a:ext cx="5080000" cy="1143000"/>
          </a:xfrm>
          <a:prstGeom prst="roundRect">
            <a:avLst>
              <a:gd name="adj" fmla="val 11111"/>
            </a:avLst>
          </a:prstGeom>
          <a:solidFill>
            <a:srgbClr val="FFFFFF">
              <a:alpha val="5000"/>
            </a:srgbClr>
          </a:solidFill>
          <a:ln w="12700" cap="flat" cmpd="sng">
            <a:solidFill>
              <a:srgbClr val="64FFDA">
                <a:alpha val="3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841500"/>
            <a:ext cx="406400" cy="406400"/>
          </a:xfrm>
          <a:prstGeom prst="rect">
            <a:avLst/>
          </a:prstGeom>
        </p:spPr>
      </p:pic>
      <p:sp>
        <p:nvSpPr>
          <p:cNvPr id="8" name="AutoShape 8"/>
          <p:cNvSpPr/>
          <p:nvPr/>
        </p:nvSpPr>
        <p:spPr>
          <a:xfrm>
            <a:off x="1524000" y="18034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64FFDA"/>
                </a:solidFill>
                <a:latin typeface="Noto Sans SC" panose="020B0200000000000000" charset="-122"/>
                <a:ea typeface="Noto Sans SC" panose="020B0200000000000000" charset="-122"/>
                <a:cs typeface="Noto Sans SC" panose="020B0200000000000000" charset="-122"/>
                <a:sym typeface="Noto Sans SC" panose="020B0200000000000000" charset="-122"/>
              </a:rPr>
              <a:t>Electrical system is good to go!</a:t>
            </a:r>
            <a:endParaRPr lang="en-US" sz="1100"/>
          </a:p>
        </p:txBody>
      </p:sp>
      <p:sp>
        <p:nvSpPr>
          <p:cNvPr id="9" name="AutoShape 9"/>
          <p:cNvSpPr/>
          <p:nvPr/>
        </p:nvSpPr>
        <p:spPr>
          <a:xfrm>
            <a:off x="1524000" y="21590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The electrical part is all set—motors are wired, pins are mapped.</a:t>
            </a:r>
            <a:endParaRPr lang="en-US" sz="1100"/>
          </a:p>
        </p:txBody>
      </p:sp>
      <p:sp>
        <p:nvSpPr>
          <p:cNvPr id="10" name="AutoShape 10"/>
          <p:cNvSpPr/>
          <p:nvPr/>
        </p:nvSpPr>
        <p:spPr>
          <a:xfrm>
            <a:off x="762000" y="2984500"/>
            <a:ext cx="5080000" cy="1143000"/>
          </a:xfrm>
          <a:prstGeom prst="roundRect">
            <a:avLst>
              <a:gd name="adj" fmla="val 11111"/>
            </a:avLst>
          </a:prstGeom>
          <a:solidFill>
            <a:srgbClr val="FFFFFF">
              <a:alpha val="5000"/>
            </a:srgbClr>
          </a:solidFill>
          <a:ln w="12700" cap="flat" cmpd="sng">
            <a:solidFill>
              <a:srgbClr val="FF6347">
                <a:alpha val="3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175000"/>
            <a:ext cx="406400" cy="406400"/>
          </a:xfrm>
          <a:prstGeom prst="rect">
            <a:avLst/>
          </a:prstGeom>
        </p:spPr>
      </p:pic>
      <p:sp>
        <p:nvSpPr>
          <p:cNvPr id="12" name="AutoShape 12"/>
          <p:cNvSpPr/>
          <p:nvPr/>
        </p:nvSpPr>
        <p:spPr>
          <a:xfrm>
            <a:off x="1524000" y="31369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6347"/>
                </a:solidFill>
                <a:latin typeface="Noto Sans SC" panose="020B0200000000000000" charset="-122"/>
                <a:ea typeface="Noto Sans SC" panose="020B0200000000000000" charset="-122"/>
                <a:cs typeface="Noto Sans SC" panose="020B0200000000000000" charset="-122"/>
                <a:sym typeface="Noto Sans SC" panose="020B0200000000000000" charset="-122"/>
              </a:rPr>
              <a:t>Mechanical assembly is on hold</a:t>
            </a:r>
            <a:endParaRPr lang="en-US" sz="1100"/>
          </a:p>
        </p:txBody>
      </p:sp>
      <p:sp>
        <p:nvSpPr>
          <p:cNvPr id="13" name="AutoShape 13"/>
          <p:cNvSpPr/>
          <p:nvPr/>
        </p:nvSpPr>
        <p:spPr>
          <a:xfrm>
            <a:off x="1524000" y="34925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We're stuck on the mechanical assembly because of the 3D print issue, but we know how to fix it.</a:t>
            </a:r>
            <a:endParaRPr lang="en-US" sz="1100"/>
          </a:p>
        </p:txBody>
      </p:sp>
      <p:sp>
        <p:nvSpPr>
          <p:cNvPr id="14" name="AutoShape 14"/>
          <p:cNvSpPr/>
          <p:nvPr/>
        </p:nvSpPr>
        <p:spPr>
          <a:xfrm>
            <a:off x="762000" y="4318000"/>
            <a:ext cx="5080000" cy="1143000"/>
          </a:xfrm>
          <a:prstGeom prst="roundRect">
            <a:avLst>
              <a:gd name="adj" fmla="val 11111"/>
            </a:avLst>
          </a:prstGeom>
          <a:solidFill>
            <a:srgbClr val="FFFFFF">
              <a:alpha val="5000"/>
            </a:srgbClr>
          </a:solidFill>
          <a:ln w="12700" cap="flat" cmpd="sng">
            <a:solidFill>
              <a:srgbClr val="64FFDA">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508500"/>
            <a:ext cx="406400" cy="406400"/>
          </a:xfrm>
          <a:prstGeom prst="rect">
            <a:avLst/>
          </a:prstGeom>
        </p:spPr>
      </p:pic>
      <p:sp>
        <p:nvSpPr>
          <p:cNvPr id="16" name="AutoShape 16"/>
          <p:cNvSpPr/>
          <p:nvPr/>
        </p:nvSpPr>
        <p:spPr>
          <a:xfrm>
            <a:off x="1524000" y="44704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64FFDA"/>
                </a:solidFill>
                <a:latin typeface="Noto Sans SC" panose="020B0200000000000000" charset="-122"/>
                <a:ea typeface="Noto Sans SC" panose="020B0200000000000000" charset="-122"/>
                <a:cs typeface="Noto Sans SC" panose="020B0200000000000000" charset="-122"/>
                <a:sym typeface="Noto Sans SC" panose="020B0200000000000000" charset="-122"/>
              </a:rPr>
              <a:t>Overall, we're on track</a:t>
            </a:r>
            <a:endParaRPr lang="en-US" sz="1100"/>
          </a:p>
        </p:txBody>
      </p:sp>
      <p:sp>
        <p:nvSpPr>
          <p:cNvPr id="17" name="AutoShape 17"/>
          <p:cNvSpPr/>
          <p:nvPr/>
        </p:nvSpPr>
        <p:spPr>
          <a:xfrm>
            <a:off x="1524000" y="48260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We hit a small roadblock, but the project is still on schedule. We're confident we can fix this and keep moving forward next week.</a:t>
            </a:r>
            <a:endParaRPr lang="en-US" sz="1100"/>
          </a:p>
        </p:txBody>
      </p:sp>
      <p:sp>
        <p:nvSpPr>
          <p:cNvPr id="18" name="AutoShape 18"/>
          <p:cNvSpPr/>
          <p:nvPr/>
        </p:nvSpPr>
        <p:spPr>
          <a:xfrm>
            <a:off x="7620000" y="1651000"/>
            <a:ext cx="3048000" cy="3048000"/>
          </a:xfrm>
          <a:prstGeom prst="roundRect">
            <a:avLst>
              <a:gd name="adj" fmla="val 8333"/>
            </a:avLst>
          </a:prstGeom>
          <a:solidFill>
            <a:srgbClr val="FFFFFF">
              <a:alpha val="100000"/>
            </a:srgbClr>
          </a:solidFill>
          <a:ln w="25400" cap="flat" cmpd="sng">
            <a:noFill/>
            <a:prstDash val="solid"/>
            <a:round/>
          </a:ln>
          <a:effectLst>
            <a:outerShdw blurRad="254000" dir="2700000" algn="tl" rotWithShape="0">
              <a:srgbClr val="64FFDA">
                <a:alpha val="40000"/>
              </a:srgbClr>
            </a:outerShdw>
          </a:effectLst>
        </p:spPr>
        <p:txBody>
          <a:bodyPr vert="horz" wrap="square" lIns="63500" tIns="63500" rIns="63500" bIns="63500" rtlCol="0" anchor="ctr"/>
          <a:lstStyle/>
          <a:p>
            <a:pPr algn="ctr">
              <a:defRPr/>
            </a:pPr>
          </a:p>
        </p:txBody>
      </p:sp>
      <p:sp>
        <p:nvSpPr>
          <p:cNvPr id="20" name="AutoShape 20"/>
          <p:cNvSpPr/>
          <p:nvPr/>
        </p:nvSpPr>
        <p:spPr>
          <a:xfrm>
            <a:off x="7493000" y="4826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sp>
        <p:nvSpPr>
          <p:cNvPr id="21" name="AutoShape 21"/>
          <p:cNvSpPr/>
          <p:nvPr/>
        </p:nvSpPr>
        <p:spPr>
          <a:xfrm>
            <a:off x="7620000" y="5207000"/>
            <a:ext cx="304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pic>
        <p:nvPicPr>
          <p:cNvPr id="22" name="图片 21" descr="008f22c9e985ccdd9738359d22340350"/>
          <p:cNvPicPr>
            <a:picLocks noChangeAspect="1"/>
          </p:cNvPicPr>
          <p:nvPr/>
        </p:nvPicPr>
        <p:blipFill>
          <a:blip r:embed="rId8"/>
          <a:stretch>
            <a:fillRect/>
          </a:stretch>
        </p:blipFill>
        <p:spPr>
          <a:xfrm>
            <a:off x="6367780" y="1567180"/>
            <a:ext cx="5626735" cy="40449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6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635000" y="2159000"/>
            <a:ext cx="10922000" cy="1016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8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Thank You</a:t>
            </a:r>
            <a:endParaRPr lang="en-US" sz="1100"/>
          </a:p>
        </p:txBody>
      </p:sp>
      <p:sp>
        <p:nvSpPr>
          <p:cNvPr id="5" name="AutoShape 5"/>
          <p:cNvSpPr/>
          <p:nvPr/>
        </p:nvSpPr>
        <p:spPr>
          <a:xfrm>
            <a:off x="5715000" y="3302000"/>
            <a:ext cx="762000" cy="50800"/>
          </a:xfrm>
          <a:prstGeom prst="roundRect">
            <a:avLst>
              <a:gd name="adj" fmla="val 0"/>
            </a:avLst>
          </a:prstGeom>
          <a:solidFill>
            <a:srgbClr val="64FFDA">
              <a:alpha val="100000"/>
            </a:srgbClr>
          </a:solidFill>
          <a:ln cap="flat" cmpd="sng">
            <a:solidFill>
              <a:srgbClr val="43E6BF">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635000" y="3556000"/>
            <a:ext cx="10922000" cy="635000"/>
          </a:xfrm>
          <a:prstGeom prst="rect">
            <a:avLst/>
          </a:prstGeom>
          <a:noFill/>
          <a:ln w="12700" cap="flat" cmpd="sng">
            <a:noFill/>
            <a:prstDash val="solid"/>
            <a:round/>
          </a:ln>
        </p:spPr>
        <p:txBody>
          <a:bodyPr vert="horz" wrap="none" lIns="0" tIns="0" rIns="0" bIns="0" rtlCol="0" anchor="t" anchorCtr="0"/>
          <a:lstStyle/>
          <a:p>
            <a:pPr indent="0" algn="ctr">
              <a:lnSpc>
                <a:spcPct val="125000"/>
              </a:lnSpc>
              <a:defRPr/>
            </a:pPr>
            <a:r>
              <a:rPr lang="en-US" sz="2400" b="0" i="0" u="none" strike="noStrike" spc="400">
                <a:solidFill>
                  <a:srgbClr val="64FFDA"/>
                </a:solidFill>
                <a:latin typeface="黑体" panose="02010609060101010101" charset="-122"/>
                <a:ea typeface="黑体" panose="02010609060101010101" charset="-122"/>
                <a:cs typeface="黑体" panose="02010609060101010101" charset="-122"/>
                <a:sym typeface="黑体" panose="02010609060101010101" charset="-122"/>
              </a:rPr>
              <a:t>Thanks for listening!</a:t>
            </a:r>
            <a:endParaRPr lang="en-US" sz="1100"/>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92800" y="4445000"/>
            <a:ext cx="406400" cy="406400"/>
          </a:xfrm>
          <a:prstGeom prst="rect">
            <a:avLst/>
          </a:prstGeom>
        </p:spPr>
      </p:pic>
      <p:pic>
        <p:nvPicPr>
          <p:cNvPr id="8" name="Picture 8"/>
          <p:cNvPicPr>
            <a:picLocks noChangeAspect="1"/>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00A1E">
              <a:alpha val="6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1778000"/>
            <a:ext cx="12192000" cy="1270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8000" b="1" i="0" u="none" strike="noStrike">
                <a:solidFill>
                  <a:srgbClr val="64FFDA"/>
                </a:solidFill>
                <a:latin typeface="黑体" panose="02010609060101010101" charset="-122"/>
                <a:ea typeface="黑体" panose="02010609060101010101" charset="-122"/>
                <a:cs typeface="黑体" panose="02010609060101010101" charset="-122"/>
                <a:sym typeface="黑体" panose="02010609060101010101" charset="-122"/>
              </a:rPr>
              <a:t>Q &amp; A</a:t>
            </a:r>
            <a:endParaRPr lang="en-US" sz="1100"/>
          </a:p>
        </p:txBody>
      </p:sp>
      <p:sp>
        <p:nvSpPr>
          <p:cNvPr id="5" name="AutoShape 5"/>
          <p:cNvSpPr/>
          <p:nvPr/>
        </p:nvSpPr>
        <p:spPr>
          <a:xfrm>
            <a:off x="5715000" y="3175000"/>
            <a:ext cx="762000" cy="50800"/>
          </a:xfrm>
          <a:prstGeom prst="roundRect">
            <a:avLst>
              <a:gd name="adj" fmla="val 0"/>
            </a:avLst>
          </a:prstGeom>
          <a:solidFill>
            <a:srgbClr val="64FFDA">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3429000"/>
            <a:ext cx="12192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0" i="0" u="none" strike="noStrike" spc="400">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Q&amp;A / Open Discussion</a:t>
            </a:r>
            <a:endParaRPr lang="en-US" sz="1100"/>
          </a:p>
        </p:txBody>
      </p:sp>
      <p:sp>
        <p:nvSpPr>
          <p:cNvPr id="7" name="AutoShape 7"/>
          <p:cNvSpPr/>
          <p:nvPr/>
        </p:nvSpPr>
        <p:spPr>
          <a:xfrm>
            <a:off x="0" y="4191000"/>
            <a:ext cx="12192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endParaRPr lang="en-US" sz="1100"/>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92800" y="4699000"/>
            <a:ext cx="406400" cy="406400"/>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325,&quot;left&quot;:480,&quot;top&quot;:120,&quot;width&quot;:380}"/>
</p:tagLst>
</file>

<file path=ppt/tags/tag2.xml><?xml version="1.0" encoding="utf-8"?>
<p:tagLst xmlns:p="http://schemas.openxmlformats.org/presentationml/2006/main">
  <p:tag name="KSO_WM_DIAGRAM_VIRTUALLY_FRAME" val="{&quot;height&quot;:325,&quot;left&quot;:480,&quot;top&quot;:120,&quot;width&quot;:380}"/>
</p:tagLst>
</file>

<file path=ppt/tags/tag3.xml><?xml version="1.0" encoding="utf-8"?>
<p:tagLst xmlns:p="http://schemas.openxmlformats.org/presentationml/2006/main">
  <p:tag name="KSO_WM_DIAGRAM_VIRTUALLY_FRAME" val="{&quot;height&quot;:325,&quot;left&quot;:480,&quot;top&quot;:120,&quot;width&quot;:380}"/>
</p:tagLst>
</file>

<file path=ppt/tags/tag4.xml><?xml version="1.0" encoding="utf-8"?>
<p:tagLst xmlns:p="http://schemas.openxmlformats.org/presentationml/2006/main">
  <p:tag name="KSO_WM_DIAGRAM_VIRTUALLY_FRAME" val="{&quot;height&quot;:325,&quot;left&quot;:480,&quot;top&quot;:120,&quot;width&quot;:380}"/>
</p:tagLst>
</file>

<file path=ppt/tags/tag5.xml><?xml version="1.0" encoding="utf-8"?>
<p:tagLst xmlns:p="http://schemas.openxmlformats.org/presentationml/2006/main">
  <p:tag name="KSO_WM_DIAGRAM_VIRTUALLY_FRAME" val="{&quot;height&quot;:325,&quot;left&quot;:480,&quot;top&quot;:120,&quot;width&quot;:380}"/>
</p:tagLst>
</file>

<file path=ppt/tags/tag6.xml><?xml version="1.0" encoding="utf-8"?>
<p:tagLst xmlns:p="http://schemas.openxmlformats.org/presentationml/2006/main">
  <p:tag name="KSO_WM_DIAGRAM_VIRTUALLY_FRAME" val="{&quot;height&quot;:325,&quot;left&quot;:480,&quot;top&quot;:120,&quot;width&quot;:380}"/>
</p:tagLst>
</file>

<file path=ppt/tags/tag7.xml><?xml version="1.0" encoding="utf-8"?>
<p:tagLst xmlns:p="http://schemas.openxmlformats.org/presentationml/2006/main">
  <p:tag name="KSO_WM_DIAGRAM_VIRTUALLY_FRAME" val="{&quot;height&quot;:325,&quot;left&quot;:480,&quot;top&quot;:120,&quot;width&quot;:380}"/>
</p:tagLst>
</file>

<file path=ppt/tags/tag8.xml><?xml version="1.0" encoding="utf-8"?>
<p:tagLst xmlns:p="http://schemas.openxmlformats.org/presentationml/2006/main">
  <p:tag name="KSO_WM_DIAGRAM_VIRTUALLY_FRAME" val="{&quot;height&quot;:325,&quot;left&quot;:480,&quot;top&quot;:120,&quot;width&quot;:380}"/>
</p:tagLst>
</file>

<file path=ppt/tags/tag9.xml><?xml version="1.0" encoding="utf-8"?>
<p:tagLst xmlns:p="http://schemas.openxmlformats.org/presentationml/2006/main">
  <p:tag name="KSO_WM_DIAGRAM_VIRTUALLY_FRAME" val="{&quot;height&quot;:325,&quot;left&quot;:480,&quot;top&quot;:120,&quot;width&quot;:380}"/>
</p:tagLst>
</file>

<file path=ppt/tags/tag10.xml><?xml version="1.0" encoding="utf-8"?>
<p:tagLst xmlns:p="http://schemas.openxmlformats.org/presentationml/2006/main">
  <p:tag name="KSO_WM_DIAGRAM_VIRTUALLY_FRAME" val="{&quot;height&quot;:325,&quot;left&quot;:480,&quot;top&quot;:120,&quot;width&quot;:380}"/>
</p:tagLst>
</file>

<file path=ppt/tags/tag11.xml><?xml version="1.0" encoding="utf-8"?>
<p:tagLst xmlns:p="http://schemas.openxmlformats.org/presentationml/2006/main">
  <p:tag name="KSO_WM_DIAGRAM_VIRTUALLY_FRAME" val="{&quot;height&quot;:325,&quot;left&quot;:480,&quot;top&quot;:120,&quot;width&quot;:380}"/>
</p:tagLst>
</file>

<file path=ppt/tags/tag12.xml><?xml version="1.0" encoding="utf-8"?>
<p:tagLst xmlns:p="http://schemas.openxmlformats.org/presentationml/2006/main">
  <p:tag name="KSO_WM_DIAGRAM_VIRTUALLY_FRAME" val="{&quot;height&quot;:325,&quot;left&quot;:480,&quot;top&quot;:120,&quot;width&quot;:380}"/>
</p:tagLst>
</file>

<file path=ppt/tags/tag13.xml><?xml version="1.0" encoding="utf-8"?>
<p:tagLst xmlns:p="http://schemas.openxmlformats.org/presentationml/2006/main">
  <p:tag name="KSO_WM_DIAGRAM_VIRTUALLY_FRAME" val="{&quot;height&quot;:169,&quot;left&quot;:500,&quot;top&quot;:130,&quot;width&quot;:380}"/>
</p:tagLst>
</file>

<file path=ppt/tags/tag14.xml><?xml version="1.0" encoding="utf-8"?>
<p:tagLst xmlns:p="http://schemas.openxmlformats.org/presentationml/2006/main">
  <p:tag name="KSO_WM_DIAGRAM_VIRTUALLY_FRAME" val="{&quot;height&quot;:169,&quot;left&quot;:500,&quot;top&quot;:130,&quot;width&quot;:38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1905</Words>
  <Application>WPS 演示</Application>
  <PresentationFormat/>
  <Paragraphs>74</Paragraphs>
  <Slides>8</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8</vt:i4>
      </vt:variant>
    </vt:vector>
  </HeadingPairs>
  <TitlesOfParts>
    <vt:vector size="22" baseType="lpstr">
      <vt:lpstr>Arial</vt:lpstr>
      <vt:lpstr>宋体</vt:lpstr>
      <vt:lpstr>Wingdings</vt:lpstr>
      <vt:lpstr>Arial</vt:lpstr>
      <vt:lpstr>Noto Sans SC</vt:lpstr>
      <vt:lpstr>Poppins</vt:lpstr>
      <vt:lpstr>Segoe Print</vt:lpstr>
      <vt:lpstr>黑体</vt:lpstr>
      <vt:lpstr>微软雅黑</vt:lpstr>
      <vt:lpstr>Arial Unicode MS</vt:lpstr>
      <vt:lpstr>Poppins</vt:lpstr>
      <vt:lpstr>A new day begins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WPS_1602085641</cp:lastModifiedBy>
  <cp:revision>2</cp:revision>
  <dcterms:created xsi:type="dcterms:W3CDTF">2026-03-19T08:13:16Z</dcterms:created>
  <dcterms:modified xsi:type="dcterms:W3CDTF">2026-03-19T08:17:44Z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A3113A77BD544A129DE8B2E3E0FEEB34_13</vt:lpwstr>
  </property>
</Properties>
</file>