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15"/>
  </p:notesMasterIdLst>
  <p:sldIdLst>
    <p:sldId id="256" r:id="rId3"/>
    <p:sldId id="257" r:id="rId4"/>
    <p:sldId id="258" r:id="rId5"/>
    <p:sldId id="259" r:id="rId6"/>
    <p:sldId id="260" r:id="rId7"/>
    <p:sldId id="261" r:id="rId8"/>
    <p:sldId id="265" r:id="rId9"/>
    <p:sldId id="266" r:id="rId10"/>
    <p:sldId id="267" r:id="rId11"/>
    <p:sldId id="262" r:id="rId12"/>
    <p:sldId id="263" r:id="rId13"/>
    <p:sldId id="264"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96"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welcome to the progress report of our Biped Robot project. I am the representative of Group 1, and today I will present our latest progress, design updates, challenges encountered, and the next steps for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This presentation will be divided into five parts: first, the project overview; second, our current progress; third, the recent design updates; fourth, problem analysis; and finally, our solutions and next steps.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core goal of our project is to develop a biped robot that can walk stably like a human and possess a certain degree of autonomous control. This requires in-depth research and integration in mechanical design, electronic control, and software algorithms.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Regarding our current progress, we have successfully completed the mechanical assembly of the robot. As you can see from the picture, the entire structure, including the legs, torso, and head, is fully assembled and ready for the next phase of testing.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have also successfully connected and driven all the servos. However, we encountered a critical issue during testing: when we send a command for the servo to rotate to a certain angle, it immediately returns to the initial position after completing the action, which prevents the robot from maintaining a stable posture.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terms of design updates, we have remodeled the upper body of the robot. The new design, as shown in the CAD model, includes dedicated and optimized mounting positions for the ESP32 board, camera, and battery. This will not only improve the robot's balance but also make the integration of electronic components more efficient.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are currently analyzing the servo reset issue. The core problem is that the servos cannot maintain their target angle after moving.</a:t>
            </a:r>
          </a:p>
          <a:p>
            <a:pPr indent="0" algn="l">
              <a:lnSpc>
                <a:spcPct val="100000"/>
              </a:lnSpc>
            </a:pPr>
            <a:r>
              <a:rPr lang="en-US" sz="1400" b="0" i="0" u="none" strike="noStrike">
                <a:solidFill>
                  <a:srgbClr val="000000"/>
                </a:solidFill>
              </a:rPr>
              <a:t>We suspect the causes might be related to logical errors in the control code, potential hardware connection issues, or an unstable power supply that fails to provide sufficient torque for the servos to hold position.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To address the servo reset problem, we plan to debug the control code, inspect all hardware connections, and optimize the power supply this week. Additionally, the newly designed upper body parts are currently being printed and will be assembled this week. After assembly, we will conduct walking tests to verify the robot's functionality.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address the servo reset problem, we plan to debug the control code, inspect all hardware connections, and optimize the power supply this week. Additionally, the newly designed upper body parts are currently being printed and will be assembled this week. After assembly, we will conduct walking tests to verify the robot's functionality.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25.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2032000"/>
            <a:ext cx="10922000" cy="1270000"/>
          </a:xfrm>
          <a:prstGeom prst="rect">
            <a:avLst/>
          </a:prstGeom>
          <a:noFill/>
          <a:ln w="12700" cap="flat" cmpd="sng">
            <a:noFill/>
            <a:prstDash val="solid"/>
            <a:round/>
          </a:ln>
          <a:effectLst>
            <a:outerShdw blurRad="127000" dist="50800" dir="2700000" algn="tl" rotWithShape="0">
              <a:srgbClr val="007BFF">
                <a:alpha val="50000"/>
              </a:srgbClr>
            </a:outerShdw>
          </a:effectLst>
        </p:spPr>
        <p:txBody>
          <a:bodyPr vert="horz" wrap="square" lIns="0" tIns="0" rIns="0" bIns="0" rtlCol="0" anchor="ctr" anchorCtr="0"/>
          <a:lstStyle/>
          <a:p>
            <a:pPr indent="0" algn="ctr">
              <a:lnSpc>
                <a:spcPct val="125000"/>
              </a:lnSpc>
              <a:defRPr/>
            </a:pPr>
            <a:r>
              <a:rPr lang="en-US" sz="36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Bipedal Robot Project Progress Report</a:t>
            </a:r>
            <a:endParaRPr lang="en-US" sz="1100" dirty="0"/>
          </a:p>
        </p:txBody>
      </p:sp>
      <p:sp>
        <p:nvSpPr>
          <p:cNvPr id="6" name="AutoShape 6"/>
          <p:cNvSpPr/>
          <p:nvPr/>
        </p:nvSpPr>
        <p:spPr>
          <a:xfrm>
            <a:off x="3556000" y="3429000"/>
            <a:ext cx="5080000" cy="25400"/>
          </a:xfrm>
          <a:prstGeom prst="roundRect">
            <a:avLst>
              <a:gd name="adj" fmla="val 0"/>
            </a:avLst>
          </a:prstGeom>
          <a:gradFill rotWithShape="1">
            <a:gsLst>
              <a:gs pos="0">
                <a:srgbClr val="007BFF">
                  <a:alpha val="0"/>
                </a:srgbClr>
              </a:gs>
              <a:gs pos="50000">
                <a:srgbClr val="007BFF">
                  <a:alpha val="100000"/>
                </a:srgbClr>
              </a:gs>
              <a:gs pos="100000">
                <a:srgbClr val="007B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683000"/>
            <a:ext cx="10160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0" i="0" u="none" strike="noStrike" spc="200">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Team: Group 1</a:t>
            </a:r>
            <a:endParaRPr lang="en-US" sz="1100"/>
          </a:p>
        </p:txBody>
      </p:sp>
      <p:sp>
        <p:nvSpPr>
          <p:cNvPr id="8" name="AutoShape 8"/>
          <p:cNvSpPr/>
          <p:nvPr/>
        </p:nvSpPr>
        <p:spPr>
          <a:xfrm>
            <a:off x="5461000" y="6096000"/>
            <a:ext cx="1270000" cy="254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826000" y="6223000"/>
            <a:ext cx="2540000" cy="254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INTELLIGENT ROBOTICS LAB</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7BFF"/>
                </a:solidFill>
                <a:latin typeface="Roboto"/>
                <a:ea typeface="Roboto"/>
                <a:cs typeface="Roboto"/>
                <a:sym typeface="Roboto"/>
              </a:rPr>
              <a:t>Agenda</a:t>
            </a:r>
            <a:endParaRPr lang="en-US" sz="1100"/>
          </a:p>
        </p:txBody>
      </p:sp>
      <p:sp>
        <p:nvSpPr>
          <p:cNvPr id="5" name="AutoShape 5"/>
          <p:cNvSpPr/>
          <p:nvPr/>
        </p:nvSpPr>
        <p:spPr>
          <a:xfrm>
            <a:off x="762000" y="1333500"/>
            <a:ext cx="762000" cy="508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78000"/>
            <a:ext cx="10668000" cy="711200"/>
          </a:xfrm>
          <a:prstGeom prst="roundRect">
            <a:avLst>
              <a:gd name="adj" fmla="val 17857"/>
            </a:avLst>
          </a:prstGeom>
          <a:solidFill>
            <a:srgbClr val="FFFFFF">
              <a:alpha val="100000"/>
            </a:srgbClr>
          </a:solidFill>
          <a:ln w="25400" cap="flat" cmpd="sng">
            <a:noFill/>
            <a:prstDash val="solid"/>
            <a:round/>
          </a:ln>
          <a:effectLst>
            <a:outerShdw blurRad="127000" dist="50800" dir="5400000" algn="tl" rotWithShape="0">
              <a:srgbClr val="007BFF">
                <a:alpha val="1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1016000" y="19431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01</a:t>
            </a:r>
            <a:endParaRPr lang="en-US" sz="1100"/>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8000" y="1981200"/>
            <a:ext cx="304800" cy="304800"/>
          </a:xfrm>
          <a:prstGeom prst="rect">
            <a:avLst/>
          </a:prstGeom>
        </p:spPr>
      </p:pic>
      <p:sp>
        <p:nvSpPr>
          <p:cNvPr id="9" name="AutoShape 9"/>
          <p:cNvSpPr/>
          <p:nvPr/>
        </p:nvSpPr>
        <p:spPr>
          <a:xfrm>
            <a:off x="2286000" y="19431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C757D"/>
                </a:solidFill>
                <a:latin typeface="Roboto"/>
                <a:ea typeface="Roboto"/>
                <a:cs typeface="Roboto"/>
                <a:sym typeface="Roboto"/>
              </a:rPr>
              <a:t>Project Overview</a:t>
            </a:r>
            <a:endParaRPr lang="en-US" sz="1100"/>
          </a:p>
        </p:txBody>
      </p:sp>
      <p:sp>
        <p:nvSpPr>
          <p:cNvPr id="10" name="AutoShape 10"/>
          <p:cNvSpPr/>
          <p:nvPr/>
        </p:nvSpPr>
        <p:spPr>
          <a:xfrm>
            <a:off x="762000" y="2641600"/>
            <a:ext cx="10668000" cy="711200"/>
          </a:xfrm>
          <a:prstGeom prst="roundRect">
            <a:avLst>
              <a:gd name="adj" fmla="val 17857"/>
            </a:avLst>
          </a:prstGeom>
          <a:solidFill>
            <a:srgbClr val="FFFFFF">
              <a:alpha val="100000"/>
            </a:srgbClr>
          </a:solidFill>
          <a:ln w="25400" cap="flat" cmpd="sng">
            <a:noFill/>
            <a:prstDash val="solid"/>
            <a:round/>
          </a:ln>
          <a:effectLst>
            <a:outerShdw blurRad="127000" dist="50800" dir="5400000" algn="tl" rotWithShape="0">
              <a:srgbClr val="007BFF">
                <a:alpha val="1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1016000" y="28067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02</a:t>
            </a:r>
            <a:endParaRPr lang="en-US" sz="110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8000" y="2844800"/>
            <a:ext cx="304800" cy="304800"/>
          </a:xfrm>
          <a:prstGeom prst="rect">
            <a:avLst/>
          </a:prstGeom>
        </p:spPr>
      </p:pic>
      <p:sp>
        <p:nvSpPr>
          <p:cNvPr id="13" name="AutoShape 13"/>
          <p:cNvSpPr/>
          <p:nvPr/>
        </p:nvSpPr>
        <p:spPr>
          <a:xfrm>
            <a:off x="2286000" y="28067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C757D"/>
                </a:solidFill>
                <a:latin typeface="Roboto"/>
                <a:ea typeface="Roboto"/>
                <a:cs typeface="Roboto"/>
                <a:sym typeface="Roboto"/>
              </a:rPr>
              <a:t>Current Progress</a:t>
            </a:r>
            <a:endParaRPr lang="en-US" sz="1100"/>
          </a:p>
        </p:txBody>
      </p:sp>
      <p:sp>
        <p:nvSpPr>
          <p:cNvPr id="14" name="AutoShape 14"/>
          <p:cNvSpPr/>
          <p:nvPr/>
        </p:nvSpPr>
        <p:spPr>
          <a:xfrm>
            <a:off x="762000" y="3505200"/>
            <a:ext cx="10668000" cy="711200"/>
          </a:xfrm>
          <a:prstGeom prst="roundRect">
            <a:avLst>
              <a:gd name="adj" fmla="val 17857"/>
            </a:avLst>
          </a:prstGeom>
          <a:solidFill>
            <a:srgbClr val="FFFFFF">
              <a:alpha val="100000"/>
            </a:srgbClr>
          </a:solidFill>
          <a:ln w="25400" cap="flat" cmpd="sng">
            <a:noFill/>
            <a:prstDash val="solid"/>
            <a:round/>
          </a:ln>
          <a:effectLst>
            <a:outerShdw blurRad="127000" dist="50800" dir="5400000" algn="tl" rotWithShape="0">
              <a:srgbClr val="007BFF">
                <a:alpha val="1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1016000" y="36703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03</a:t>
            </a:r>
            <a:endParaRPr lang="en-US" sz="1100"/>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78000" y="3708400"/>
            <a:ext cx="304800" cy="304800"/>
          </a:xfrm>
          <a:prstGeom prst="rect">
            <a:avLst/>
          </a:prstGeom>
        </p:spPr>
      </p:pic>
      <p:sp>
        <p:nvSpPr>
          <p:cNvPr id="17" name="AutoShape 17"/>
          <p:cNvSpPr/>
          <p:nvPr/>
        </p:nvSpPr>
        <p:spPr>
          <a:xfrm>
            <a:off x="2286000" y="36703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C757D"/>
                </a:solidFill>
                <a:latin typeface="Roboto"/>
                <a:ea typeface="Roboto"/>
                <a:cs typeface="Roboto"/>
                <a:sym typeface="Roboto"/>
              </a:rPr>
              <a:t>Design Update</a:t>
            </a:r>
            <a:endParaRPr lang="en-US" sz="1100"/>
          </a:p>
        </p:txBody>
      </p:sp>
      <p:sp>
        <p:nvSpPr>
          <p:cNvPr id="18" name="AutoShape 18"/>
          <p:cNvSpPr/>
          <p:nvPr/>
        </p:nvSpPr>
        <p:spPr>
          <a:xfrm>
            <a:off x="762000" y="4368800"/>
            <a:ext cx="10668000" cy="711200"/>
          </a:xfrm>
          <a:prstGeom prst="roundRect">
            <a:avLst>
              <a:gd name="adj" fmla="val 17857"/>
            </a:avLst>
          </a:prstGeom>
          <a:solidFill>
            <a:srgbClr val="FFFFFF">
              <a:alpha val="100000"/>
            </a:srgbClr>
          </a:solidFill>
          <a:ln w="25400" cap="flat" cmpd="sng">
            <a:noFill/>
            <a:prstDash val="solid"/>
            <a:round/>
          </a:ln>
          <a:effectLst>
            <a:outerShdw blurRad="127000" dist="50800" dir="5400000" algn="tl" rotWithShape="0">
              <a:srgbClr val="007BFF">
                <a:alpha val="1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1016000" y="45339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04</a:t>
            </a:r>
            <a:endParaRPr lang="en-US" sz="110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8000" y="4572000"/>
            <a:ext cx="304800" cy="304800"/>
          </a:xfrm>
          <a:prstGeom prst="rect">
            <a:avLst/>
          </a:prstGeom>
        </p:spPr>
      </p:pic>
      <p:sp>
        <p:nvSpPr>
          <p:cNvPr id="21" name="AutoShape 21"/>
          <p:cNvSpPr/>
          <p:nvPr/>
        </p:nvSpPr>
        <p:spPr>
          <a:xfrm>
            <a:off x="2286000" y="45339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6C757D"/>
                </a:solidFill>
                <a:latin typeface="Roboto"/>
                <a:ea typeface="Roboto"/>
                <a:cs typeface="Roboto"/>
                <a:sym typeface="Roboto"/>
              </a:rPr>
              <a:t>Problem Analysis</a:t>
            </a:r>
            <a:endParaRPr lang="en-US" sz="1100" dirty="0"/>
          </a:p>
        </p:txBody>
      </p:sp>
      <p:sp>
        <p:nvSpPr>
          <p:cNvPr id="22" name="AutoShape 22"/>
          <p:cNvSpPr/>
          <p:nvPr/>
        </p:nvSpPr>
        <p:spPr>
          <a:xfrm>
            <a:off x="762000" y="5232400"/>
            <a:ext cx="10668000" cy="711200"/>
          </a:xfrm>
          <a:prstGeom prst="roundRect">
            <a:avLst>
              <a:gd name="adj" fmla="val 17857"/>
            </a:avLst>
          </a:prstGeom>
          <a:solidFill>
            <a:srgbClr val="FFFFFF">
              <a:alpha val="100000"/>
            </a:srgbClr>
          </a:solidFill>
          <a:ln w="25400" cap="flat" cmpd="sng">
            <a:noFill/>
            <a:prstDash val="solid"/>
            <a:round/>
          </a:ln>
          <a:effectLst>
            <a:outerShdw blurRad="127000" dist="50800" dir="5400000" algn="tl" rotWithShape="0">
              <a:srgbClr val="007BFF">
                <a:alpha val="15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1016000" y="53975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05</a:t>
            </a:r>
            <a:endParaRPr lang="en-US" sz="1100"/>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000" y="5435600"/>
            <a:ext cx="304800" cy="304800"/>
          </a:xfrm>
          <a:prstGeom prst="rect">
            <a:avLst/>
          </a:prstGeom>
        </p:spPr>
      </p:pic>
      <p:sp>
        <p:nvSpPr>
          <p:cNvPr id="25" name="AutoShape 25"/>
          <p:cNvSpPr/>
          <p:nvPr/>
        </p:nvSpPr>
        <p:spPr>
          <a:xfrm>
            <a:off x="2286000" y="53975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C757D"/>
                </a:solidFill>
                <a:latin typeface="Roboto"/>
                <a:ea typeface="Roboto"/>
                <a:cs typeface="Roboto"/>
                <a:sym typeface="Roboto"/>
              </a:rPr>
              <a:t>Solutions &amp; Next Steps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7BFF"/>
                </a:solidFill>
                <a:latin typeface="Roboto"/>
                <a:ea typeface="Roboto"/>
                <a:cs typeface="Roboto"/>
                <a:sym typeface="Roboto"/>
              </a:rPr>
              <a:t>Project Overview</a:t>
            </a:r>
            <a:endParaRPr lang="en-US" sz="1100"/>
          </a:p>
        </p:txBody>
      </p:sp>
      <p:sp>
        <p:nvSpPr>
          <p:cNvPr id="3" name="AutoShape 3"/>
          <p:cNvSpPr/>
          <p:nvPr/>
        </p:nvSpPr>
        <p:spPr>
          <a:xfrm>
            <a:off x="762000" y="1524000"/>
            <a:ext cx="5080000" cy="3048000"/>
          </a:xfrm>
          <a:prstGeom prst="roundRect">
            <a:avLst>
              <a:gd name="adj" fmla="val 4166"/>
            </a:avLst>
          </a:prstGeom>
          <a:solidFill>
            <a:srgbClr val="FFFFFF">
              <a:alpha val="100000"/>
            </a:srgbClr>
          </a:solidFill>
          <a:ln w="12700" cap="flat" cmpd="sng">
            <a:solidFill>
              <a:srgbClr val="007BFF">
                <a:alpha val="2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1778000"/>
            <a:ext cx="4572000" cy="177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dirty="0">
                <a:solidFill>
                  <a:srgbClr val="6C757D"/>
                </a:solidFill>
                <a:latin typeface="Roboto"/>
                <a:ea typeface="Roboto"/>
                <a:cs typeface="Roboto"/>
                <a:sym typeface="Roboto"/>
              </a:rPr>
              <a:t>The goal of this project is to develop a bipedal robot capable of stable walking and autonomous control. By integrating mechanical structure, electronic control systems, and visual recognition modules, we aim to create a practical robot prototype.</a:t>
            </a:r>
            <a:endParaRPr lang="en-US" sz="1100" dirty="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810000"/>
            <a:ext cx="304800" cy="304800"/>
          </a:xfrm>
          <a:prstGeom prst="rect">
            <a:avLst/>
          </a:prstGeom>
        </p:spPr>
      </p:pic>
      <p:sp>
        <p:nvSpPr>
          <p:cNvPr id="6" name="AutoShape 6"/>
          <p:cNvSpPr/>
          <p:nvPr/>
        </p:nvSpPr>
        <p:spPr>
          <a:xfrm>
            <a:off x="1397000" y="3784600"/>
            <a:ext cx="127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C757D"/>
                </a:solidFill>
                <a:latin typeface="Roboto"/>
                <a:ea typeface="Roboto"/>
                <a:cs typeface="Roboto"/>
                <a:sym typeface="Roboto"/>
              </a:rPr>
              <a:t>Mechanical</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67000" y="3810000"/>
            <a:ext cx="304800" cy="304800"/>
          </a:xfrm>
          <a:prstGeom prst="rect">
            <a:avLst/>
          </a:prstGeom>
        </p:spPr>
      </p:pic>
      <p:sp>
        <p:nvSpPr>
          <p:cNvPr id="8" name="AutoShape 8"/>
          <p:cNvSpPr/>
          <p:nvPr/>
        </p:nvSpPr>
        <p:spPr>
          <a:xfrm>
            <a:off x="3048000" y="3784600"/>
            <a:ext cx="127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C757D"/>
                </a:solidFill>
                <a:latin typeface="Roboto"/>
                <a:ea typeface="Roboto"/>
                <a:cs typeface="Roboto"/>
                <a:sym typeface="Roboto"/>
              </a:rPr>
              <a:t>Electronic</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91000" y="3810000"/>
            <a:ext cx="304800" cy="304800"/>
          </a:xfrm>
          <a:prstGeom prst="rect">
            <a:avLst/>
          </a:prstGeom>
        </p:spPr>
      </p:pic>
      <p:sp>
        <p:nvSpPr>
          <p:cNvPr id="10" name="AutoShape 10"/>
          <p:cNvSpPr/>
          <p:nvPr/>
        </p:nvSpPr>
        <p:spPr>
          <a:xfrm>
            <a:off x="4572000" y="3784600"/>
            <a:ext cx="101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C757D"/>
                </a:solidFill>
                <a:latin typeface="Roboto"/>
                <a:ea typeface="Roboto"/>
                <a:cs typeface="Roboto"/>
                <a:sym typeface="Roboto"/>
              </a:rPr>
              <a:t>Vision</a:t>
            </a:r>
            <a:endParaRPr lang="en-US" sz="1100"/>
          </a:p>
        </p:txBody>
      </p:sp>
      <p:pic>
        <p:nvPicPr>
          <p:cNvPr id="11" name="Picture 11"/>
          <p:cNvPicPr>
            <a:picLocks noChangeAspect="1"/>
          </p:cNvPicPr>
          <p:nvPr/>
        </p:nvPicPr>
        <p:blipFill>
          <a:blip r:embed="rId6"/>
          <a:srcRect t="19" b="19"/>
          <a:stretch>
            <a:fillRect/>
          </a:stretch>
        </p:blipFill>
        <p:spPr>
          <a:xfrm>
            <a:off x="6604000" y="1524000"/>
            <a:ext cx="2286000" cy="3048000"/>
          </a:xfrm>
          <a:prstGeom prst="roundRect">
            <a:avLst>
              <a:gd name="adj" fmla="val 5555"/>
            </a:avLst>
          </a:prstGeom>
          <a:noFill/>
          <a:ln w="25400" cap="flat" cmpd="sng">
            <a:solidFill>
              <a:srgbClr val="FFFFFF">
                <a:alpha val="100000"/>
              </a:srgbClr>
            </a:solidFill>
            <a:prstDash val="solid"/>
            <a:round/>
          </a:ln>
          <a:effectLst>
            <a:outerShdw blurRad="190500" dist="76200" dir="5400000" algn="tl" rotWithShape="0">
              <a:srgbClr val="000000">
                <a:alpha val="10000"/>
              </a:srgbClr>
            </a:outerShdw>
          </a:effectLst>
        </p:spPr>
      </p:pic>
      <p:sp>
        <p:nvSpPr>
          <p:cNvPr id="12" name="AutoShape 12"/>
          <p:cNvSpPr/>
          <p:nvPr/>
        </p:nvSpPr>
        <p:spPr>
          <a:xfrm>
            <a:off x="762000" y="5080000"/>
            <a:ext cx="10668000" cy="50800"/>
          </a:xfrm>
          <a:prstGeom prst="roundRect">
            <a:avLst>
              <a:gd name="adj" fmla="val 0"/>
            </a:avLst>
          </a:prstGeom>
          <a:gradFill rotWithShape="1">
            <a:gsLst>
              <a:gs pos="0">
                <a:srgbClr val="007BFF">
                  <a:alpha val="100000"/>
                </a:srgbClr>
              </a:gs>
              <a:gs pos="100000">
                <a:srgbClr val="007BFF">
                  <a:alpha val="1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5334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C757D">
                    <a:alpha val="80000"/>
                  </a:srgbClr>
                </a:solidFill>
                <a:latin typeface="Roboto"/>
                <a:ea typeface="Roboto"/>
                <a:cs typeface="Roboto"/>
                <a:sym typeface="Roboto"/>
              </a:rPr>
              <a:t>Integrating Mechanics, Electronics, and Software for Next-Gen Robotics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007BFF"/>
                </a:solidFill>
                <a:latin typeface="Roboto"/>
                <a:ea typeface="Roboto"/>
                <a:cs typeface="Roboto"/>
                <a:sym typeface="Roboto"/>
              </a:rPr>
              <a:t>Current Progress - Hardware Assembly</a:t>
            </a:r>
            <a:endParaRPr lang="en-US" sz="1100" dirty="0"/>
          </a:p>
        </p:txBody>
      </p:sp>
      <p:sp>
        <p:nvSpPr>
          <p:cNvPr id="3" name="AutoShape 3"/>
          <p:cNvSpPr/>
          <p:nvPr/>
        </p:nvSpPr>
        <p:spPr>
          <a:xfrm>
            <a:off x="762000" y="1651000"/>
            <a:ext cx="5334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06400" cy="406400"/>
          </a:xfrm>
          <a:prstGeom prst="rect">
            <a:avLst/>
          </a:prstGeom>
        </p:spPr>
      </p:pic>
      <p:sp>
        <p:nvSpPr>
          <p:cNvPr id="5" name="AutoShape 5"/>
          <p:cNvSpPr/>
          <p:nvPr/>
        </p:nvSpPr>
        <p:spPr>
          <a:xfrm>
            <a:off x="1524000" y="1841500"/>
            <a:ext cx="4318000" cy="241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800" b="0" i="0" u="none" strike="noStrike" dirty="0">
                <a:solidFill>
                  <a:srgbClr val="6C757D"/>
                </a:solidFill>
                <a:latin typeface="Roboto"/>
                <a:ea typeface="Roboto"/>
                <a:cs typeface="Roboto"/>
                <a:sym typeface="Roboto"/>
              </a:rPr>
              <a:t>We have successfully completed the overall mechanical assembly of the robot, including the legs, torso, and head.</a:t>
            </a:r>
            <a:endParaRPr lang="en-US" sz="1100" dirty="0"/>
          </a:p>
          <a:p>
            <a:pPr indent="0" algn="l">
              <a:lnSpc>
                <a:spcPct val="117000"/>
              </a:lnSpc>
            </a:pPr>
            <a:endParaRPr lang="en-US" sz="1100" dirty="0"/>
          </a:p>
          <a:p>
            <a:pPr indent="0" algn="l">
              <a:lnSpc>
                <a:spcPct val="117000"/>
              </a:lnSpc>
            </a:pPr>
            <a:r>
              <a:rPr lang="en-US" sz="1800" b="0" i="0" u="none" strike="noStrike" dirty="0">
                <a:solidFill>
                  <a:srgbClr val="6C757D"/>
                </a:solidFill>
                <a:latin typeface="Roboto"/>
                <a:ea typeface="Roboto"/>
                <a:cs typeface="Roboto"/>
                <a:sym typeface="Roboto"/>
              </a:rPr>
              <a:t>The robot structure is now fully assembled and ready for further testing.</a:t>
            </a:r>
          </a:p>
        </p:txBody>
      </p:sp>
      <p:sp>
        <p:nvSpPr>
          <p:cNvPr id="6" name="AutoShape 6"/>
          <p:cNvSpPr/>
          <p:nvPr/>
        </p:nvSpPr>
        <p:spPr>
          <a:xfrm>
            <a:off x="6477000" y="1651000"/>
            <a:ext cx="3810000" cy="2794000"/>
          </a:xfrm>
          <a:prstGeom prst="roundRect">
            <a:avLst>
              <a:gd name="adj" fmla="val 454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srcRect t="4563" b="4563"/>
          <a:stretch>
            <a:fillRect/>
          </a:stretch>
        </p:blipFill>
        <p:spPr>
          <a:xfrm>
            <a:off x="6731000" y="1778000"/>
            <a:ext cx="2095500" cy="2540000"/>
          </a:xfrm>
          <a:prstGeom prst="roundRect">
            <a:avLst>
              <a:gd name="adj" fmla="val 6060"/>
            </a:avLst>
          </a:prstGeom>
          <a:noFill/>
          <a:ln w="12700" cap="flat" cmpd="sng">
            <a:solidFill>
              <a:srgbClr val="E9ECEF">
                <a:alpha val="100000"/>
              </a:srgbClr>
            </a:solidFill>
            <a:prstDash val="solid"/>
            <a:round/>
          </a:ln>
        </p:spPr>
      </p:pic>
      <p:sp>
        <p:nvSpPr>
          <p:cNvPr id="8" name="AutoShape 8"/>
          <p:cNvSpPr/>
          <p:nvPr/>
        </p:nvSpPr>
        <p:spPr>
          <a:xfrm>
            <a:off x="8953500" y="1905000"/>
            <a:ext cx="1270000" cy="228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1" dirty="0">
                <a:solidFill>
                  <a:srgbClr val="007BFF"/>
                </a:solidFill>
                <a:latin typeface="Roboto"/>
                <a:ea typeface="Roboto"/>
                <a:cs typeface="Roboto"/>
                <a:sym typeface="Roboto"/>
              </a:rPr>
              <a:t>Basically</a:t>
            </a:r>
            <a:endParaRPr lang="en-US" sz="1100" dirty="0"/>
          </a:p>
          <a:p>
            <a:pPr indent="0" algn="ctr">
              <a:lnSpc>
                <a:spcPct val="125000"/>
              </a:lnSpc>
            </a:pPr>
            <a:r>
              <a:rPr lang="en-US" sz="1400" b="1" i="0" u="none" strike="noStrike" dirty="0">
                <a:solidFill>
                  <a:srgbClr val="007BFF"/>
                </a:solidFill>
                <a:latin typeface="Roboto"/>
                <a:ea typeface="Roboto"/>
                <a:cs typeface="Roboto"/>
                <a:sym typeface="Roboto"/>
              </a:rPr>
              <a:t>Assembled</a:t>
            </a:r>
          </a:p>
          <a:p>
            <a:pPr indent="0" algn="ctr">
              <a:lnSpc>
                <a:spcPct val="125000"/>
              </a:lnSpc>
            </a:pPr>
            <a:r>
              <a:rPr lang="en-US" sz="1400" b="1" i="0" u="none" strike="noStrike" dirty="0">
                <a:solidFill>
                  <a:srgbClr val="007BFF"/>
                </a:solidFill>
                <a:latin typeface="Roboto"/>
                <a:ea typeface="Roboto"/>
                <a:cs typeface="Roboto"/>
                <a:sym typeface="Roboto"/>
              </a:rPr>
              <a:t>Robot</a:t>
            </a:r>
          </a:p>
        </p:txBody>
      </p:sp>
      <p:sp>
        <p:nvSpPr>
          <p:cNvPr id="9" name="AutoShape 9"/>
          <p:cNvSpPr/>
          <p:nvPr/>
        </p:nvSpPr>
        <p:spPr>
          <a:xfrm>
            <a:off x="0" y="6350000"/>
            <a:ext cx="12192000" cy="5080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641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Roboto"/>
                <a:ea typeface="Roboto"/>
                <a:cs typeface="Roboto"/>
                <a:sym typeface="Roboto"/>
              </a:rPr>
              <a:t>Status: Mechanical Structure Complete | Next Step: System Integration &amp; Testing</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007BFF"/>
                </a:solidFill>
                <a:latin typeface="Roboto"/>
                <a:ea typeface="Roboto"/>
                <a:cs typeface="Roboto"/>
                <a:sym typeface="Roboto"/>
              </a:rPr>
              <a:t>Current Progress - Servo Driving</a:t>
            </a:r>
            <a:endParaRPr lang="en-US" sz="1100" dirty="0"/>
          </a:p>
        </p:txBody>
      </p:sp>
      <p:sp>
        <p:nvSpPr>
          <p:cNvPr id="3" name="AutoShape 3"/>
          <p:cNvSpPr/>
          <p:nvPr/>
        </p:nvSpPr>
        <p:spPr>
          <a:xfrm>
            <a:off x="762000" y="1651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032000"/>
            <a:ext cx="609600" cy="609600"/>
          </a:xfrm>
          <a:prstGeom prst="rect">
            <a:avLst/>
          </a:prstGeom>
        </p:spPr>
      </p:pic>
      <p:sp>
        <p:nvSpPr>
          <p:cNvPr id="5" name="AutoShape 5"/>
          <p:cNvSpPr/>
          <p:nvPr/>
        </p:nvSpPr>
        <p:spPr>
          <a:xfrm>
            <a:off x="1143000" y="2794000"/>
            <a:ext cx="4318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800" b="0" i="0" u="none" strike="noStrike" dirty="0">
                <a:solidFill>
                  <a:srgbClr val="6C757D"/>
                </a:solidFill>
                <a:latin typeface="Roboto"/>
                <a:ea typeface="Roboto"/>
                <a:cs typeface="Roboto"/>
                <a:sym typeface="Roboto"/>
              </a:rPr>
              <a:t>We have successfully established communication and driven all the servos. Basic movement commands are being executed as expected.</a:t>
            </a:r>
            <a:endParaRPr lang="en-US" sz="1100" dirty="0"/>
          </a:p>
        </p:txBody>
      </p:sp>
      <p:sp>
        <p:nvSpPr>
          <p:cNvPr id="6" name="AutoShape 6"/>
          <p:cNvSpPr/>
          <p:nvPr/>
        </p:nvSpPr>
        <p:spPr>
          <a:xfrm>
            <a:off x="6350000" y="1651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032000"/>
            <a:ext cx="609600" cy="609600"/>
          </a:xfrm>
          <a:prstGeom prst="rect">
            <a:avLst/>
          </a:prstGeom>
        </p:spPr>
      </p:pic>
      <p:sp>
        <p:nvSpPr>
          <p:cNvPr id="8" name="AutoShape 8"/>
          <p:cNvSpPr/>
          <p:nvPr/>
        </p:nvSpPr>
        <p:spPr>
          <a:xfrm>
            <a:off x="6731000" y="2794000"/>
            <a:ext cx="4318000" cy="152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800" b="0" i="0" u="none" strike="noStrike" dirty="0">
                <a:solidFill>
                  <a:srgbClr val="6C757D"/>
                </a:solidFill>
                <a:latin typeface="Roboto"/>
                <a:ea typeface="Roboto"/>
                <a:cs typeface="Roboto"/>
                <a:sym typeface="Roboto"/>
              </a:rPr>
              <a:t>Servos reset immediately after rotation. They perform the action but fail to maintain the target angle, reverting to initial positions.</a:t>
            </a:r>
            <a:endParaRPr lang="en-US" sz="1100" dirty="0"/>
          </a:p>
        </p:txBody>
      </p:sp>
      <p:sp>
        <p:nvSpPr>
          <p:cNvPr id="9" name="AutoShape 9"/>
          <p:cNvSpPr/>
          <p:nvPr/>
        </p:nvSpPr>
        <p:spPr>
          <a:xfrm>
            <a:off x="762000" y="5080000"/>
            <a:ext cx="10668000" cy="1016000"/>
          </a:xfrm>
          <a:prstGeom prst="roundRect">
            <a:avLst>
              <a:gd name="adj" fmla="val 1250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34000"/>
            <a:ext cx="406400" cy="406400"/>
          </a:xfrm>
          <a:prstGeom prst="rect">
            <a:avLst/>
          </a:prstGeom>
        </p:spPr>
      </p:pic>
      <p:sp>
        <p:nvSpPr>
          <p:cNvPr id="11" name="AutoShape 11"/>
          <p:cNvSpPr/>
          <p:nvPr/>
        </p:nvSpPr>
        <p:spPr>
          <a:xfrm>
            <a:off x="1524000" y="5270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BFF"/>
                </a:solidFill>
                <a:latin typeface="Roboto"/>
                <a:ea typeface="Roboto"/>
                <a:cs typeface="Roboto"/>
                <a:sym typeface="Roboto"/>
              </a:rPr>
              <a:t>Next Step:</a:t>
            </a:r>
            <a:r>
              <a:rPr lang="en-US" sz="1800" b="0" i="0" u="none" strike="noStrike">
                <a:solidFill>
                  <a:srgbClr val="6C757D"/>
                </a:solidFill>
                <a:latin typeface="Roboto"/>
                <a:ea typeface="Roboto"/>
                <a:cs typeface="Roboto"/>
                <a:sym typeface="Roboto"/>
              </a:rPr>
              <a:t>Investigate power supply stability and motor driver configuration to resolve the position holding failure.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7BFF"/>
                </a:solidFill>
                <a:latin typeface="Roboto"/>
                <a:ea typeface="Roboto"/>
                <a:cs typeface="Roboto"/>
                <a:sym typeface="Roboto"/>
              </a:rPr>
              <a:t>Design Update - Upper Body Remodeling</a:t>
            </a:r>
            <a:endParaRPr lang="en-US" sz="1100"/>
          </a:p>
        </p:txBody>
      </p:sp>
      <p:pic>
        <p:nvPicPr>
          <p:cNvPr id="3" name="Picture 3"/>
          <p:cNvPicPr>
            <a:picLocks noChangeAspect="1"/>
          </p:cNvPicPr>
          <p:nvPr/>
        </p:nvPicPr>
        <p:blipFill>
          <a:blip r:embed="rId3"/>
          <a:srcRect l="102" r="102"/>
          <a:stretch>
            <a:fillRect/>
          </a:stretch>
        </p:blipFill>
        <p:spPr>
          <a:xfrm>
            <a:off x="762000" y="1651000"/>
            <a:ext cx="3302000" cy="2781300"/>
          </a:xfrm>
          <a:prstGeom prst="roundRect">
            <a:avLst>
              <a:gd name="adj" fmla="val 4566"/>
            </a:avLst>
          </a:prstGeom>
          <a:noFill/>
          <a:ln w="12700" cap="flat" cmpd="sng">
            <a:solidFill>
              <a:srgbClr val="DEE2E6">
                <a:alpha val="100000"/>
              </a:srgbClr>
            </a:solidFill>
            <a:prstDash val="solid"/>
            <a:round/>
          </a:ln>
          <a:effectLst>
            <a:outerShdw blurRad="127000" dist="63500" dir="2700000" algn="tl" rotWithShape="0">
              <a:srgbClr val="000000">
                <a:alpha val="15000"/>
              </a:srgbClr>
            </a:outerShdw>
          </a:effectLst>
        </p:spPr>
      </p:pic>
      <p:sp>
        <p:nvSpPr>
          <p:cNvPr id="4" name="AutoShape 4"/>
          <p:cNvSpPr/>
          <p:nvPr/>
        </p:nvSpPr>
        <p:spPr>
          <a:xfrm>
            <a:off x="4445000" y="1651000"/>
            <a:ext cx="698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6C757D"/>
                </a:solidFill>
                <a:latin typeface="Roboto"/>
                <a:ea typeface="Roboto"/>
                <a:cs typeface="Roboto"/>
                <a:sym typeface="Roboto"/>
              </a:rPr>
              <a:t>The robot's upper body has been fully remodeled with optimized structural design, focusing on enhancing integration efficiency and physical balance.</a:t>
            </a:r>
            <a:endParaRPr lang="en-US" sz="1100"/>
          </a:p>
        </p:txBody>
      </p:sp>
      <p:sp>
        <p:nvSpPr>
          <p:cNvPr id="5" name="AutoShape 5"/>
          <p:cNvSpPr/>
          <p:nvPr/>
        </p:nvSpPr>
        <p:spPr>
          <a:xfrm>
            <a:off x="4445000" y="2540000"/>
            <a:ext cx="6985000" cy="762000"/>
          </a:xfrm>
          <a:prstGeom prst="roundRect">
            <a:avLst>
              <a:gd name="adj" fmla="val 16666"/>
            </a:avLst>
          </a:prstGeom>
          <a:solidFill>
            <a:srgbClr val="FFFFFF">
              <a:alpha val="100000"/>
            </a:srgbClr>
          </a:solidFill>
          <a:ln w="12700" cap="flat" cmpd="sng">
            <a:solidFill>
              <a:srgbClr val="E9ECEF">
                <a:alpha val="100000"/>
              </a:srgbClr>
            </a:solid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730500"/>
            <a:ext cx="381000" cy="381000"/>
          </a:xfrm>
          <a:prstGeom prst="rect">
            <a:avLst/>
          </a:prstGeom>
        </p:spPr>
      </p:pic>
      <p:sp>
        <p:nvSpPr>
          <p:cNvPr id="7" name="AutoShape 7"/>
          <p:cNvSpPr/>
          <p:nvPr/>
        </p:nvSpPr>
        <p:spPr>
          <a:xfrm>
            <a:off x="5143500" y="2667000"/>
            <a:ext cx="609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Roboto"/>
                <a:ea typeface="Roboto"/>
                <a:cs typeface="Roboto"/>
                <a:sym typeface="Roboto"/>
              </a:rPr>
              <a:t>Dedicated ESP32 Mounting</a:t>
            </a:r>
            <a:r>
              <a:rPr lang="en-US" sz="1400" b="0" i="0" u="none" strike="noStrike">
                <a:solidFill>
                  <a:srgbClr val="6C757D"/>
                </a:solidFill>
                <a:latin typeface="Roboto"/>
                <a:ea typeface="Roboto"/>
                <a:cs typeface="Roboto"/>
                <a:sym typeface="Roboto"/>
              </a:rPr>
              <a:t>- Optimized position for the main control board ensuring secure connections.</a:t>
            </a:r>
            <a:endParaRPr lang="en-US" sz="1100"/>
          </a:p>
        </p:txBody>
      </p:sp>
      <p:sp>
        <p:nvSpPr>
          <p:cNvPr id="8" name="AutoShape 8"/>
          <p:cNvSpPr/>
          <p:nvPr/>
        </p:nvSpPr>
        <p:spPr>
          <a:xfrm>
            <a:off x="4445000" y="3429000"/>
            <a:ext cx="6985000" cy="762000"/>
          </a:xfrm>
          <a:prstGeom prst="roundRect">
            <a:avLst>
              <a:gd name="adj" fmla="val 16666"/>
            </a:avLst>
          </a:prstGeom>
          <a:solidFill>
            <a:srgbClr val="FFFFFF">
              <a:alpha val="100000"/>
            </a:srgbClr>
          </a:solidFill>
          <a:ln w="12700" cap="flat" cmpd="sng">
            <a:solidFill>
              <a:srgbClr val="E9ECEF">
                <a:alpha val="100000"/>
              </a:srgbClr>
            </a:solid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619500"/>
            <a:ext cx="381000" cy="381000"/>
          </a:xfrm>
          <a:prstGeom prst="rect">
            <a:avLst/>
          </a:prstGeom>
        </p:spPr>
      </p:pic>
      <p:sp>
        <p:nvSpPr>
          <p:cNvPr id="10" name="AutoShape 10"/>
          <p:cNvSpPr/>
          <p:nvPr/>
        </p:nvSpPr>
        <p:spPr>
          <a:xfrm>
            <a:off x="5143500" y="3556000"/>
            <a:ext cx="609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Roboto"/>
                <a:ea typeface="Roboto"/>
                <a:cs typeface="Roboto"/>
                <a:sym typeface="Roboto"/>
              </a:rPr>
              <a:t>Camera Integration</a:t>
            </a:r>
            <a:r>
              <a:rPr lang="en-US" sz="1400" b="0" i="0" u="none" strike="noStrike">
                <a:solidFill>
                  <a:srgbClr val="6C757D"/>
                </a:solidFill>
                <a:latin typeface="Roboto"/>
                <a:ea typeface="Roboto"/>
                <a:cs typeface="Roboto"/>
                <a:sym typeface="Roboto"/>
              </a:rPr>
              <a:t>- Fixed bracket for precise visual perception alignment.</a:t>
            </a:r>
            <a:endParaRPr lang="en-US" sz="1100"/>
          </a:p>
        </p:txBody>
      </p:sp>
      <p:sp>
        <p:nvSpPr>
          <p:cNvPr id="11" name="AutoShape 11"/>
          <p:cNvSpPr/>
          <p:nvPr/>
        </p:nvSpPr>
        <p:spPr>
          <a:xfrm>
            <a:off x="4445000" y="4318000"/>
            <a:ext cx="6985000" cy="762000"/>
          </a:xfrm>
          <a:prstGeom prst="roundRect">
            <a:avLst>
              <a:gd name="adj" fmla="val 16666"/>
            </a:avLst>
          </a:prstGeom>
          <a:solidFill>
            <a:srgbClr val="FFFFFF">
              <a:alpha val="100000"/>
            </a:srgbClr>
          </a:solidFill>
          <a:ln w="12700" cap="flat" cmpd="sng">
            <a:solidFill>
              <a:srgbClr val="E9ECEF">
                <a:alpha val="100000"/>
              </a:srgbClr>
            </a:solidFill>
            <a:prstDash val="solid"/>
            <a:round/>
          </a:ln>
          <a:effectLst>
            <a:outerShdw blurRad="63500" dist="254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4508500"/>
            <a:ext cx="381000" cy="381000"/>
          </a:xfrm>
          <a:prstGeom prst="rect">
            <a:avLst/>
          </a:prstGeom>
        </p:spPr>
      </p:pic>
      <p:sp>
        <p:nvSpPr>
          <p:cNvPr id="13" name="AutoShape 13"/>
          <p:cNvSpPr/>
          <p:nvPr/>
        </p:nvSpPr>
        <p:spPr>
          <a:xfrm>
            <a:off x="5143500" y="4445000"/>
            <a:ext cx="609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43A40"/>
                </a:solidFill>
                <a:latin typeface="Roboto"/>
                <a:ea typeface="Roboto"/>
                <a:cs typeface="Roboto"/>
                <a:sym typeface="Roboto"/>
              </a:rPr>
              <a:t>Battery Compartment</a:t>
            </a:r>
            <a:r>
              <a:rPr lang="en-US" sz="1400" b="0" i="0" u="none" strike="noStrike">
                <a:solidFill>
                  <a:srgbClr val="6C757D"/>
                </a:solidFill>
                <a:latin typeface="Roboto"/>
                <a:ea typeface="Roboto"/>
                <a:cs typeface="Roboto"/>
                <a:sym typeface="Roboto"/>
              </a:rPr>
              <a:t>- Reinforced design improves weight distribution and balance.</a:t>
            </a:r>
            <a:endParaRPr lang="en-US" sz="1100"/>
          </a:p>
        </p:txBody>
      </p:sp>
      <p:sp>
        <p:nvSpPr>
          <p:cNvPr id="14" name="AutoShape 14"/>
          <p:cNvSpPr/>
          <p:nvPr/>
        </p:nvSpPr>
        <p:spPr>
          <a:xfrm>
            <a:off x="762000" y="5588000"/>
            <a:ext cx="10668000" cy="25400"/>
          </a:xfrm>
          <a:prstGeom prst="roundRect">
            <a:avLst>
              <a:gd name="adj" fmla="val 0"/>
            </a:avLst>
          </a:prstGeom>
          <a:solidFill>
            <a:srgbClr val="E9EC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b="0" i="0" u="none" strike="noStrike">
                <a:solidFill>
                  <a:srgbClr val="ADB5BD"/>
                </a:solidFill>
                <a:latin typeface="Roboto"/>
                <a:ea typeface="Roboto"/>
                <a:cs typeface="Roboto"/>
                <a:sym typeface="Roboto"/>
              </a:rPr>
              <a:t>Engineering Design Phase | v2.0</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3D5EF8B-260F-A8A2-8A11-2DEFA239B451}"/>
              </a:ext>
            </a:extLst>
          </p:cNvPr>
          <p:cNvPicPr>
            <a:picLocks noChangeAspect="1"/>
          </p:cNvPicPr>
          <p:nvPr/>
        </p:nvPicPr>
        <p:blipFill>
          <a:blip r:embed="rId2"/>
          <a:stretch>
            <a:fillRect/>
          </a:stretch>
        </p:blipFill>
        <p:spPr>
          <a:xfrm>
            <a:off x="1955355" y="122739"/>
            <a:ext cx="8281289" cy="6155323"/>
          </a:xfrm>
          <a:prstGeom prst="rect">
            <a:avLst/>
          </a:prstGeom>
        </p:spPr>
      </p:pic>
    </p:spTree>
    <p:extLst>
      <p:ext uri="{BB962C8B-B14F-4D97-AF65-F5344CB8AC3E}">
        <p14:creationId xmlns:p14="http://schemas.microsoft.com/office/powerpoint/2010/main" val="908551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D20D7C1-9CF5-E2D7-7FFD-7678AD733512}"/>
              </a:ext>
            </a:extLst>
          </p:cNvPr>
          <p:cNvPicPr>
            <a:picLocks noChangeAspect="1"/>
          </p:cNvPicPr>
          <p:nvPr/>
        </p:nvPicPr>
        <p:blipFill>
          <a:blip r:embed="rId2"/>
          <a:stretch>
            <a:fillRect/>
          </a:stretch>
        </p:blipFill>
        <p:spPr>
          <a:xfrm>
            <a:off x="1491270" y="312983"/>
            <a:ext cx="8953837" cy="5793245"/>
          </a:xfrm>
          <a:prstGeom prst="rect">
            <a:avLst/>
          </a:prstGeom>
        </p:spPr>
      </p:pic>
    </p:spTree>
    <p:extLst>
      <p:ext uri="{BB962C8B-B14F-4D97-AF65-F5344CB8AC3E}">
        <p14:creationId xmlns:p14="http://schemas.microsoft.com/office/powerpoint/2010/main" val="217703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978963-E2E3-2519-F71F-EA6D8599943F}"/>
              </a:ext>
            </a:extLst>
          </p:cNvPr>
          <p:cNvPicPr>
            <a:picLocks noChangeAspect="1"/>
          </p:cNvPicPr>
          <p:nvPr/>
        </p:nvPicPr>
        <p:blipFill>
          <a:blip r:embed="rId2"/>
          <a:stretch>
            <a:fillRect/>
          </a:stretch>
        </p:blipFill>
        <p:spPr>
          <a:xfrm>
            <a:off x="0" y="0"/>
            <a:ext cx="5639823" cy="3156692"/>
          </a:xfrm>
          <a:prstGeom prst="rect">
            <a:avLst/>
          </a:prstGeom>
        </p:spPr>
      </p:pic>
      <p:pic>
        <p:nvPicPr>
          <p:cNvPr id="5" name="图片 4">
            <a:extLst>
              <a:ext uri="{FF2B5EF4-FFF2-40B4-BE49-F238E27FC236}">
                <a16:creationId xmlns:a16="http://schemas.microsoft.com/office/drawing/2014/main" id="{245307DD-E949-8329-42C9-4754FDC56B90}"/>
              </a:ext>
            </a:extLst>
          </p:cNvPr>
          <p:cNvPicPr>
            <a:picLocks noChangeAspect="1"/>
          </p:cNvPicPr>
          <p:nvPr/>
        </p:nvPicPr>
        <p:blipFill>
          <a:blip r:embed="rId3"/>
          <a:stretch>
            <a:fillRect/>
          </a:stretch>
        </p:blipFill>
        <p:spPr>
          <a:xfrm>
            <a:off x="-1" y="3312499"/>
            <a:ext cx="5639823" cy="3156692"/>
          </a:xfrm>
          <a:prstGeom prst="rect">
            <a:avLst/>
          </a:prstGeom>
        </p:spPr>
      </p:pic>
    </p:spTree>
    <p:extLst>
      <p:ext uri="{BB962C8B-B14F-4D97-AF65-F5344CB8AC3E}">
        <p14:creationId xmlns:p14="http://schemas.microsoft.com/office/powerpoint/2010/main" val="14870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7BFF"/>
                </a:solidFill>
                <a:latin typeface="Roboto"/>
                <a:ea typeface="Roboto"/>
                <a:cs typeface="Roboto"/>
                <a:sym typeface="Roboto"/>
              </a:rPr>
              <a:t>Servo Reset Analysis</a:t>
            </a:r>
            <a:endParaRPr lang="en-US" sz="1100"/>
          </a:p>
        </p:txBody>
      </p:sp>
      <p:sp>
        <p:nvSpPr>
          <p:cNvPr id="3" name="AutoShape 3"/>
          <p:cNvSpPr/>
          <p:nvPr/>
        </p:nvSpPr>
        <p:spPr>
          <a:xfrm>
            <a:off x="762000" y="1524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524000"/>
            <a:ext cx="101600" cy="1397000"/>
          </a:xfrm>
          <a:prstGeom prst="roundRect">
            <a:avLst>
              <a:gd name="adj" fmla="val 12500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1841500"/>
            <a:ext cx="609600" cy="609600"/>
          </a:xfrm>
          <a:prstGeom prst="rect">
            <a:avLst/>
          </a:prstGeom>
        </p:spPr>
      </p:pic>
      <p:sp>
        <p:nvSpPr>
          <p:cNvPr id="6" name="AutoShape 6"/>
          <p:cNvSpPr/>
          <p:nvPr/>
        </p:nvSpPr>
        <p:spPr>
          <a:xfrm>
            <a:off x="1905000" y="1651000"/>
            <a:ext cx="927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BFF"/>
                </a:solidFill>
                <a:latin typeface="Roboto"/>
                <a:ea typeface="Roboto"/>
                <a:cs typeface="Roboto"/>
                <a:sym typeface="Roboto"/>
              </a:rPr>
              <a:t>Core Problem</a:t>
            </a:r>
            <a:endParaRPr lang="en-US" sz="1100"/>
          </a:p>
          <a:p>
            <a:pPr indent="0" algn="l">
              <a:lnSpc>
                <a:spcPts val="1000"/>
              </a:lnSpc>
            </a:pPr>
            <a:endParaRPr lang="en-US" sz="1100"/>
          </a:p>
          <a:p>
            <a:pPr indent="0" algn="l">
              <a:lnSpc>
                <a:spcPct val="125000"/>
              </a:lnSpc>
            </a:pPr>
            <a:r>
              <a:rPr lang="en-US" sz="1600" b="0" i="0" u="none" strike="noStrike">
                <a:solidFill>
                  <a:srgbClr val="6C757D"/>
                </a:solidFill>
                <a:latin typeface="Roboto"/>
                <a:ea typeface="Roboto"/>
                <a:cs typeface="Roboto"/>
                <a:sym typeface="Roboto"/>
              </a:rPr>
              <a:t>Servos reset to initial position after executing a command, failing to maintain the target angle.</a:t>
            </a:r>
          </a:p>
        </p:txBody>
      </p:sp>
      <p:sp>
        <p:nvSpPr>
          <p:cNvPr id="7" name="AutoShape 7"/>
          <p:cNvSpPr/>
          <p:nvPr/>
        </p:nvSpPr>
        <p:spPr>
          <a:xfrm>
            <a:off x="762000" y="3175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100" y="3429000"/>
            <a:ext cx="762000" cy="762000"/>
          </a:xfrm>
          <a:prstGeom prst="rect">
            <a:avLst/>
          </a:prstGeom>
        </p:spPr>
      </p:pic>
      <p:sp>
        <p:nvSpPr>
          <p:cNvPr id="9" name="AutoShape 9"/>
          <p:cNvSpPr/>
          <p:nvPr/>
        </p:nvSpPr>
        <p:spPr>
          <a:xfrm>
            <a:off x="889000" y="4318000"/>
            <a:ext cx="31242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343A40"/>
                </a:solidFill>
                <a:latin typeface="Roboto"/>
                <a:ea typeface="Roboto"/>
                <a:cs typeface="Roboto"/>
                <a:sym typeface="Roboto"/>
              </a:rPr>
              <a:t>Software Logic</a:t>
            </a:r>
            <a:endParaRPr lang="en-US" sz="1100"/>
          </a:p>
          <a:p>
            <a:pPr indent="0" algn="l">
              <a:lnSpc>
                <a:spcPts val="800"/>
              </a:lnSpc>
            </a:pPr>
            <a:endParaRPr lang="en-US" sz="1100"/>
          </a:p>
          <a:p>
            <a:pPr indent="0" algn="ctr">
              <a:lnSpc>
                <a:spcPct val="125000"/>
              </a:lnSpc>
            </a:pPr>
            <a:r>
              <a:rPr lang="en-US" sz="1300" b="0" i="0" u="none" strike="noStrike">
                <a:solidFill>
                  <a:srgbClr val="6C757D"/>
                </a:solidFill>
                <a:latin typeface="Roboto"/>
                <a:ea typeface="Roboto"/>
                <a:cs typeface="Roboto"/>
                <a:sym typeface="Roboto"/>
              </a:rPr>
              <a:t>Logical errors in the control code leading to unexpected resets.</a:t>
            </a:r>
          </a:p>
        </p:txBody>
      </p:sp>
      <p:sp>
        <p:nvSpPr>
          <p:cNvPr id="10" name="AutoShape 10"/>
          <p:cNvSpPr/>
          <p:nvPr/>
        </p:nvSpPr>
        <p:spPr>
          <a:xfrm>
            <a:off x="4394200" y="3175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02300" y="3429000"/>
            <a:ext cx="762000" cy="762000"/>
          </a:xfrm>
          <a:prstGeom prst="rect">
            <a:avLst/>
          </a:prstGeom>
        </p:spPr>
      </p:pic>
      <p:sp>
        <p:nvSpPr>
          <p:cNvPr id="12" name="AutoShape 12"/>
          <p:cNvSpPr/>
          <p:nvPr/>
        </p:nvSpPr>
        <p:spPr>
          <a:xfrm>
            <a:off x="4521200" y="4318000"/>
            <a:ext cx="31242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dirty="0">
                <a:solidFill>
                  <a:srgbClr val="343A40"/>
                </a:solidFill>
                <a:latin typeface="Roboto"/>
                <a:ea typeface="Roboto"/>
                <a:cs typeface="Roboto"/>
                <a:sym typeface="Roboto"/>
              </a:rPr>
              <a:t>Hardware Connection</a:t>
            </a:r>
            <a:endParaRPr lang="en-US" sz="1100" dirty="0"/>
          </a:p>
          <a:p>
            <a:pPr indent="0" algn="l">
              <a:lnSpc>
                <a:spcPts val="800"/>
              </a:lnSpc>
            </a:pPr>
            <a:endParaRPr lang="en-US" sz="1100" dirty="0"/>
          </a:p>
          <a:p>
            <a:pPr indent="0" algn="ctr">
              <a:lnSpc>
                <a:spcPct val="125000"/>
              </a:lnSpc>
            </a:pPr>
            <a:r>
              <a:rPr lang="en-US" sz="1300" b="0" i="0" u="none" strike="noStrike" dirty="0">
                <a:solidFill>
                  <a:srgbClr val="6C757D"/>
                </a:solidFill>
                <a:latin typeface="Roboto"/>
                <a:ea typeface="Roboto"/>
                <a:cs typeface="Roboto"/>
                <a:sym typeface="Roboto"/>
              </a:rPr>
              <a:t>Potential loose wiring or faulty connections causing signal loss.</a:t>
            </a:r>
          </a:p>
        </p:txBody>
      </p:sp>
      <p:sp>
        <p:nvSpPr>
          <p:cNvPr id="13" name="AutoShape 13"/>
          <p:cNvSpPr/>
          <p:nvPr/>
        </p:nvSpPr>
        <p:spPr>
          <a:xfrm>
            <a:off x="8026400" y="3175000"/>
            <a:ext cx="33782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3429000"/>
            <a:ext cx="762000" cy="762000"/>
          </a:xfrm>
          <a:prstGeom prst="rect">
            <a:avLst/>
          </a:prstGeom>
        </p:spPr>
      </p:pic>
      <p:sp>
        <p:nvSpPr>
          <p:cNvPr id="15" name="AutoShape 15"/>
          <p:cNvSpPr/>
          <p:nvPr/>
        </p:nvSpPr>
        <p:spPr>
          <a:xfrm>
            <a:off x="8153400" y="4318000"/>
            <a:ext cx="3124200" cy="1016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343A40"/>
                </a:solidFill>
                <a:latin typeface="Roboto"/>
                <a:ea typeface="Roboto"/>
                <a:cs typeface="Roboto"/>
                <a:sym typeface="Roboto"/>
              </a:rPr>
              <a:t>Power Supply</a:t>
            </a:r>
            <a:endParaRPr lang="en-US" sz="1100"/>
          </a:p>
          <a:p>
            <a:pPr indent="0" algn="l">
              <a:lnSpc>
                <a:spcPts val="800"/>
              </a:lnSpc>
            </a:pPr>
            <a:endParaRPr lang="en-US" sz="1100"/>
          </a:p>
          <a:p>
            <a:pPr indent="0" algn="ctr">
              <a:lnSpc>
                <a:spcPct val="125000"/>
              </a:lnSpc>
            </a:pPr>
            <a:r>
              <a:rPr lang="en-US" sz="1300" b="0" i="0" u="none" strike="noStrike">
                <a:solidFill>
                  <a:srgbClr val="6C757D"/>
                </a:solidFill>
                <a:latin typeface="Roboto"/>
                <a:ea typeface="Roboto"/>
                <a:cs typeface="Roboto"/>
                <a:sym typeface="Roboto"/>
              </a:rPr>
              <a:t>Unstable voltage causing insufficient torque to hold position.</a:t>
            </a:r>
          </a:p>
        </p:txBody>
      </p:sp>
      <p:sp>
        <p:nvSpPr>
          <p:cNvPr id="16" name="AutoShape 16"/>
          <p:cNvSpPr/>
          <p:nvPr/>
        </p:nvSpPr>
        <p:spPr>
          <a:xfrm>
            <a:off x="762000" y="5969000"/>
            <a:ext cx="10668000" cy="25400"/>
          </a:xfrm>
          <a:prstGeom prst="roundRect">
            <a:avLst>
              <a:gd name="adj" fmla="val 0"/>
            </a:avLst>
          </a:prstGeom>
          <a:solidFill>
            <a:srgbClr val="007BFF">
              <a:alpha val="2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9550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7BFF"/>
                </a:solidFill>
                <a:latin typeface="Roboto"/>
                <a:ea typeface="Roboto"/>
                <a:cs typeface="Roboto"/>
                <a:sym typeface="Roboto"/>
              </a:rPr>
              <a:t>Solutions &amp; Next Steps</a:t>
            </a:r>
            <a:endParaRPr lang="en-US" sz="1100"/>
          </a:p>
        </p:txBody>
      </p:sp>
      <p:sp>
        <p:nvSpPr>
          <p:cNvPr id="3" name="AutoShape 3"/>
          <p:cNvSpPr/>
          <p:nvPr/>
        </p:nvSpPr>
        <p:spPr>
          <a:xfrm>
            <a:off x="762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762000" y="1651000"/>
            <a:ext cx="5080000" cy="635000"/>
          </a:xfrm>
          <a:prstGeom prst="roundRect">
            <a:avLst>
              <a:gd name="adj" fmla="val 20000"/>
            </a:avLst>
          </a:prstGeom>
          <a:solidFill>
            <a:srgbClr val="007BF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90700"/>
            <a:ext cx="355600" cy="355600"/>
          </a:xfrm>
          <a:prstGeom prst="rect">
            <a:avLst/>
          </a:prstGeom>
        </p:spPr>
      </p:pic>
      <p:sp>
        <p:nvSpPr>
          <p:cNvPr id="6" name="AutoShape 6"/>
          <p:cNvSpPr/>
          <p:nvPr/>
        </p:nvSpPr>
        <p:spPr>
          <a:xfrm>
            <a:off x="1460500" y="1752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Solutions</a:t>
            </a:r>
            <a:endParaRPr lang="en-US" sz="1100"/>
          </a:p>
        </p:txBody>
      </p:sp>
      <p:sp>
        <p:nvSpPr>
          <p:cNvPr id="7" name="AutoShape 7"/>
          <p:cNvSpPr/>
          <p:nvPr/>
        </p:nvSpPr>
        <p:spPr>
          <a:xfrm>
            <a:off x="1016000" y="2413000"/>
            <a:ext cx="4572000" cy="2413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17000"/>
              </a:lnSpc>
              <a:buClr>
                <a:srgbClr val="6C757D"/>
              </a:buClr>
              <a:buChar char="•"/>
              <a:defRPr/>
            </a:pPr>
            <a:r>
              <a:rPr lang="en-US" sz="1600" b="0" i="0" u="none" strike="noStrike" dirty="0">
                <a:solidFill>
                  <a:srgbClr val="6C757D"/>
                </a:solidFill>
                <a:latin typeface="Roboto"/>
                <a:ea typeface="Roboto"/>
                <a:cs typeface="Roboto"/>
                <a:sym typeface="Roboto"/>
              </a:rPr>
              <a:t>Debug the control code to ensure angle maintenance.</a:t>
            </a:r>
            <a:endParaRPr lang="en-US" sz="1100" dirty="0"/>
          </a:p>
          <a:p>
            <a:pPr marL="203200" indent="-203200" algn="l">
              <a:lnSpc>
                <a:spcPct val="117000"/>
              </a:lnSpc>
              <a:buClr>
                <a:srgbClr val="6C757D"/>
              </a:buClr>
              <a:buChar char="•"/>
            </a:pPr>
            <a:r>
              <a:rPr lang="en-US" sz="1600" b="0" i="0" u="none" strike="noStrike" dirty="0">
                <a:solidFill>
                  <a:srgbClr val="6C757D"/>
                </a:solidFill>
                <a:latin typeface="Roboto"/>
                <a:ea typeface="Roboto"/>
                <a:cs typeface="Roboto"/>
                <a:sym typeface="Roboto"/>
              </a:rPr>
              <a:t>Inspect and secure all hardware connections.</a:t>
            </a:r>
          </a:p>
          <a:p>
            <a:pPr marL="203200" indent="-203200" algn="l">
              <a:lnSpc>
                <a:spcPct val="117000"/>
              </a:lnSpc>
              <a:buClr>
                <a:srgbClr val="6C757D"/>
              </a:buClr>
              <a:buChar char="•"/>
            </a:pPr>
            <a:r>
              <a:rPr lang="en-US" sz="1600" b="0" i="0" u="none" strike="noStrike" dirty="0">
                <a:solidFill>
                  <a:srgbClr val="6C757D"/>
                </a:solidFill>
                <a:latin typeface="Roboto"/>
                <a:ea typeface="Roboto"/>
                <a:cs typeface="Roboto"/>
                <a:sym typeface="Roboto"/>
              </a:rPr>
              <a:t>Test and optimize the power supply.</a:t>
            </a:r>
          </a:p>
        </p:txBody>
      </p:sp>
      <p:sp>
        <p:nvSpPr>
          <p:cNvPr id="8" name="AutoShape 8"/>
          <p:cNvSpPr/>
          <p:nvPr/>
        </p:nvSpPr>
        <p:spPr>
          <a:xfrm>
            <a:off x="6350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6350000" y="1651000"/>
            <a:ext cx="5080000" cy="635000"/>
          </a:xfrm>
          <a:prstGeom prst="roundRect">
            <a:avLst>
              <a:gd name="adj" fmla="val 20000"/>
            </a:avLst>
          </a:prstGeom>
          <a:solidFill>
            <a:srgbClr val="007BF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90700"/>
            <a:ext cx="355600" cy="355600"/>
          </a:xfrm>
          <a:prstGeom prst="rect">
            <a:avLst/>
          </a:prstGeom>
        </p:spPr>
      </p:pic>
      <p:sp>
        <p:nvSpPr>
          <p:cNvPr id="11" name="AutoShape 11"/>
          <p:cNvSpPr/>
          <p:nvPr/>
        </p:nvSpPr>
        <p:spPr>
          <a:xfrm>
            <a:off x="7048500" y="1752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7BFF"/>
                </a:solidFill>
                <a:latin typeface="Roboto"/>
                <a:ea typeface="Roboto"/>
                <a:cs typeface="Roboto"/>
                <a:sym typeface="Roboto"/>
              </a:rPr>
              <a:t>Next Steps</a:t>
            </a:r>
            <a:endParaRPr lang="en-US" sz="1100"/>
          </a:p>
        </p:txBody>
      </p:sp>
      <p:sp>
        <p:nvSpPr>
          <p:cNvPr id="12" name="AutoShape 12"/>
          <p:cNvSpPr/>
          <p:nvPr/>
        </p:nvSpPr>
        <p:spPr>
          <a:xfrm>
            <a:off x="6604000" y="2413000"/>
            <a:ext cx="4572000" cy="2413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17000"/>
              </a:lnSpc>
              <a:buClr>
                <a:srgbClr val="6C757D"/>
              </a:buClr>
              <a:buChar char="•"/>
              <a:defRPr/>
            </a:pPr>
            <a:r>
              <a:rPr lang="en-US" sz="1600" b="0" i="0" u="none" strike="noStrike" dirty="0">
                <a:solidFill>
                  <a:srgbClr val="6C757D"/>
                </a:solidFill>
                <a:latin typeface="Roboto"/>
                <a:ea typeface="Roboto"/>
                <a:cs typeface="Roboto"/>
                <a:sym typeface="Roboto"/>
              </a:rPr>
              <a:t>Complete the troubleshooting of the servo reset issue this week.</a:t>
            </a:r>
            <a:endParaRPr lang="en-US" sz="1100" dirty="0"/>
          </a:p>
          <a:p>
            <a:pPr marL="203200" indent="-203200" algn="l">
              <a:lnSpc>
                <a:spcPct val="117000"/>
              </a:lnSpc>
              <a:buClr>
                <a:srgbClr val="6C757D"/>
              </a:buClr>
              <a:buChar char="•"/>
            </a:pPr>
            <a:r>
              <a:rPr lang="en-US" sz="1600" b="0" i="0" u="none" strike="noStrike" dirty="0">
                <a:solidFill>
                  <a:srgbClr val="6C757D"/>
                </a:solidFill>
                <a:latin typeface="Roboto"/>
                <a:ea typeface="Roboto"/>
                <a:cs typeface="Roboto"/>
                <a:sym typeface="Roboto"/>
              </a:rPr>
              <a:t>Print and assemble the newly designed upper body parts.</a:t>
            </a:r>
          </a:p>
          <a:p>
            <a:pPr marL="203200" indent="-203200" algn="l">
              <a:lnSpc>
                <a:spcPct val="117000"/>
              </a:lnSpc>
              <a:buClr>
                <a:srgbClr val="6C757D"/>
              </a:buClr>
              <a:buChar char="•"/>
            </a:pPr>
            <a:r>
              <a:rPr lang="en-US" sz="1600" b="0" i="0" u="none" strike="noStrike" dirty="0">
                <a:solidFill>
                  <a:srgbClr val="6C757D"/>
                </a:solidFill>
                <a:latin typeface="Roboto"/>
                <a:ea typeface="Roboto"/>
                <a:cs typeface="Roboto"/>
                <a:sym typeface="Roboto"/>
              </a:rPr>
              <a:t>Conduct walking tests after assembly.</a:t>
            </a:r>
          </a:p>
        </p:txBody>
      </p:sp>
      <p:sp>
        <p:nvSpPr>
          <p:cNvPr id="13" name="AutoShape 13"/>
          <p:cNvSpPr/>
          <p:nvPr/>
        </p:nvSpPr>
        <p:spPr>
          <a:xfrm>
            <a:off x="762000" y="5715000"/>
            <a:ext cx="10668000" cy="25400"/>
          </a:xfrm>
          <a:prstGeom prst="roundRect">
            <a:avLst>
              <a:gd name="adj" fmla="val 0"/>
            </a:avLst>
          </a:prstGeom>
          <a:solidFill>
            <a:srgbClr val="007B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C757D">
                    <a:alpha val="80000"/>
                  </a:srgbClr>
                </a:solidFill>
                <a:latin typeface="Roboto"/>
                <a:ea typeface="Roboto"/>
                <a:cs typeface="Roboto"/>
                <a:sym typeface="Roboto"/>
              </a:rPr>
              <a:t>Focus on resolving current issues and advancing to physical testing phase.</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3" name="AutoShape 3"/>
          <p:cNvSpPr/>
          <p:nvPr/>
        </p:nvSpPr>
        <p:spPr>
          <a:xfrm>
            <a:off x="508000" y="1651000"/>
            <a:ext cx="5080000" cy="3556000"/>
          </a:xfrm>
          <a:prstGeom prst="roundRect">
            <a:avLst>
              <a:gd name="adj" fmla="val 3571"/>
            </a:avLst>
          </a:prstGeom>
          <a:solidFill>
            <a:srgbClr val="007BFF">
              <a:alpha val="10000"/>
            </a:srgbClr>
          </a:solidFill>
          <a:ln w="25400" cap="flat" cmpd="sng">
            <a:noFill/>
            <a:prstDash val="solid"/>
            <a:round/>
          </a:ln>
        </p:spPr>
        <p:txBody>
          <a:bodyPr vert="horz" wrap="square" lIns="63500" tIns="63500" rIns="63500" bIns="63500" rtlCol="0" anchor="ctr"/>
          <a:lstStyle/>
          <a:p>
            <a:pPr indent="0" algn="ctr">
              <a:lnSpc>
                <a:spcPct val="125000"/>
              </a:lnSpc>
              <a:defRPr/>
            </a:pPr>
            <a:r>
              <a:rPr lang="en-US" sz="45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90700"/>
            <a:ext cx="355600" cy="355600"/>
          </a:xfrm>
          <a:prstGeom prst="rect">
            <a:avLst/>
          </a:prstGeom>
        </p:spPr>
      </p:pic>
      <p:sp>
        <p:nvSpPr>
          <p:cNvPr id="5" name="AutoShape 5"/>
          <p:cNvSpPr/>
          <p:nvPr/>
        </p:nvSpPr>
        <p:spPr>
          <a:xfrm>
            <a:off x="6350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6350000" y="1651000"/>
            <a:ext cx="5246938" cy="3556000"/>
          </a:xfrm>
          <a:prstGeom prst="roundRect">
            <a:avLst>
              <a:gd name="adj" fmla="val 3571"/>
            </a:avLst>
          </a:prstGeom>
          <a:solidFill>
            <a:srgbClr val="007BFF">
              <a:alpha val="10000"/>
            </a:srgbClr>
          </a:solidFill>
          <a:ln w="25400" cap="flat" cmpd="sng">
            <a:noFill/>
            <a:prstDash val="solid"/>
            <a:round/>
          </a:ln>
        </p:spPr>
        <p:txBody>
          <a:bodyPr vert="horz" wrap="square" lIns="63500" tIns="63500" rIns="63500" bIns="63500" rtlCol="0" anchor="ctr"/>
          <a:lstStyle/>
          <a:p>
            <a:pPr indent="0" algn="ctr">
              <a:lnSpc>
                <a:spcPct val="125000"/>
              </a:lnSpc>
              <a:defRPr/>
            </a:pPr>
            <a:r>
              <a:rPr lang="en-US" sz="45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90700"/>
            <a:ext cx="355600" cy="355600"/>
          </a:xfrm>
          <a:prstGeom prst="rect">
            <a:avLst/>
          </a:prstGeom>
        </p:spPr>
      </p:pic>
      <p:sp>
        <p:nvSpPr>
          <p:cNvPr id="8" name="AutoShape 8"/>
          <p:cNvSpPr/>
          <p:nvPr/>
        </p:nvSpPr>
        <p:spPr>
          <a:xfrm>
            <a:off x="762000" y="5715000"/>
            <a:ext cx="10668000" cy="25400"/>
          </a:xfrm>
          <a:prstGeom prst="roundRect">
            <a:avLst>
              <a:gd name="adj" fmla="val 0"/>
            </a:avLst>
          </a:prstGeom>
          <a:solidFill>
            <a:srgbClr val="007BFF">
              <a:alpha val="3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910</Words>
  <Application>Microsoft Office PowerPoint</Application>
  <PresentationFormat>宽屏</PresentationFormat>
  <Paragraphs>91</Paragraphs>
  <Slides>12</Slides>
  <Notes>9</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12</vt:i4>
      </vt:variant>
    </vt:vector>
  </HeadingPairs>
  <TitlesOfParts>
    <vt:vector size="17" baseType="lpstr">
      <vt:lpstr>Noto Sans SC</vt:lpstr>
      <vt:lpstr>Arial</vt:lpstr>
      <vt:lpstr>Roboto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 Jia</cp:lastModifiedBy>
  <cp:revision>6</cp:revision>
  <dcterms:created xsi:type="dcterms:W3CDTF">2026-04-04T04:05:30Z</dcterms:created>
  <dcterms:modified xsi:type="dcterms:W3CDTF">2026-04-09T02:55:44Z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A0121E3ECE454C33891F063D2C1611F7_12</vt:lpwstr>
  </property>
  <property fmtid="{D5CDD505-2E9C-101B-9397-08002B2CF9AE}" pid="3" name="KSOProductBuildVer">
    <vt:lpwstr>2052-12.1.0.25225</vt:lpwstr>
  </property>
</Properties>
</file>