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.svg" ContentType="image/svg+xml"/>
  <Override PartName="/ppt/media/image30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1.svg" ContentType="image/svg+xml"/>
  <Override PartName="/ppt/media/image43.svg" ContentType="image/svg+xml"/>
  <Override PartName="/ppt/media/image45.svg" ContentType="image/svg+xml"/>
  <Override PartName="/ppt/media/image47.svg" ContentType="image/svg+xml"/>
  <Override PartName="/ppt/media/image49.svg" ContentType="image/svg+xml"/>
  <Override PartName="/ppt/media/image5.svg" ContentType="image/svg+xml"/>
  <Override PartName="/ppt/media/image51.svg" ContentType="image/svg+xml"/>
  <Override PartName="/ppt/media/image53.svg" ContentType="image/svg+xml"/>
  <Override PartName="/ppt/media/image55.svg" ContentType="image/svg+xml"/>
  <Override PartName="/ppt/media/image58.svg" ContentType="image/svg+xml"/>
  <Override PartName="/ppt/media/image60.svg" ContentType="image/svg+xml"/>
  <Override PartName="/ppt/media/image63.svg" ContentType="image/svg+xml"/>
  <Override PartName="/ppt/media/image65.svg" ContentType="image/svg+xml"/>
  <Override PartName="/ppt/media/image67.svg" ContentType="image/svg+xml"/>
  <Override PartName="/ppt/media/image69.svg" ContentType="image/svg+xml"/>
  <Override PartName="/ppt/media/image71.svg" ContentType="image/svg+xml"/>
  <Override PartName="/ppt/media/image73.svg" ContentType="image/svg+xml"/>
  <Override PartName="/ppt/media/image75.svg" ContentType="image/svg+xml"/>
  <Override PartName="/ppt/media/image77.svg" ContentType="image/svg+xml"/>
  <Override PartName="/ppt/media/image79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  <p:sldMasterId id="2147483662" r:id="rId4"/>
  </p:sldMasterIdLst>
  <p:notesMasterIdLst>
    <p:notesMasterId r:id="rId6"/>
  </p:notesMasterIdLst>
  <p:sldIdLst>
    <p:sldId id="256" r:id="rId5"/>
    <p:sldId id="257" r:id="rId7"/>
    <p:sldId id="259" r:id="rId8"/>
    <p:sldId id="260" r:id="rId9"/>
    <p:sldId id="276" r:id="rId10"/>
    <p:sldId id="261" r:id="rId11"/>
    <p:sldId id="266" r:id="rId12"/>
    <p:sldId id="267" r:id="rId13"/>
    <p:sldId id="268" r:id="rId14"/>
    <p:sldId id="271" r:id="rId15"/>
    <p:sldId id="274" r:id="rId1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544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544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欢迎参加本次双足机器人项目的进展报告会。今天，我将向大家汇报我们项目目前的材料整理情况，并详细介绍我们下一阶段的未来工作计划。虽然项目刚刚起步，我们还没有实物成果，但我们已经在理论研究和方案规划上做了充分的准备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报告将分为五个部分。首先，我会介绍项目的背景和我们设定的核心目标。接着，回顾我们在项目初期已经完成的一些关键工作。然后，重点展示我们目前在机械、电子和软件方面所做的材料整理与分析。之后，将详细阐述我们为未来制定的分阶段工作计划。最后，对整个项目进行总结并展望未来的发展方向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基于此背景，我们设定了清晰的项目目标。短期来看，我们的首要任务是完成一个6自由度双足机器人的设计与制作，并让它能够实现最基本的稳定行走。而从长远来看，我们希望在这个基础平台上，不断探索和优化控制算法，最终实现更智能、更灵活的运动能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项目的前期，我们完成了关键的方案确定工作。如图所示，我们选择了一个经典的6自由度设计，每条腿有3个关节，分别控制前后、左右和屈膝动作。这个方案是经过充分考虑的，它在功能和复杂度之间取得了很好的平衡，是我们项目起步的理想选择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项目的前期，我们完成了关键的方案确定工作。如图所示，我们选择了一个经典的6自由度设计，每条腿有3个关节，分别控制前后、左右和屈膝动作。这个方案是经过充分考虑的，它在功能和复杂度之间取得了很好的平衡，是我们项目起步的理想选择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另一个重要的前期工作是核心部件的选型。我们深入对比了舵机和步进电机的优缺点，最终选择了舵机。原因很简单：舵机自带角度反馈和闭环控制，我们只需要发送一个信号，它就能精确地转到指定角度，这对于控制机器人关节来说是完美的选择。我们初步选定了MG90S这款舵机，它体积小、扭矩适中，完全能满足我们的需求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基于目前的准备工作，我们制定了详细的未来计划。第一阶段，我们将集中精力进行机械建模。在接下来的两周内，我们的目标是完成整个机器人的3D设计，并输出可以用于实际加工的工程图纸。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这是第一阶段任务的详细分解和时间线。我们将用一周时间学习软件并完成建模，第二周进行装配、检查和图纸输出。通过这样的规划，我们希望能高效、有序地完成第一阶段的目标。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完成3D建模后，我们将进入第二阶段——硬件搭建。这个阶段，我们会把设计图变成实物，包括采购零件、组装机械结构、焊接电路等。预计两周时间，我们就能看到机器人的雏形了。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第三阶段的工作将分为三步：首先编写基础的控制代码，然后实现步态算法，最后进行长时间的联调和优化。我们相信，通过这三周的努力，一定能让机器人迈出稳健的第一步。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对本次报告进行总结。目前我们的项目正处于一个良好的开端，完成了充分的前期准备。展望未来，这个基础的双足机器人平台还有很大的扩展空间，我们可以为它增加避障、视觉等功能，让它变得更加智能。我们对项目的未来充满信心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</p:sldLayoutIdLst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4.xml"/><Relationship Id="rId8" Type="http://schemas.openxmlformats.org/officeDocument/2006/relationships/image" Target="../media/image10.svg"/><Relationship Id="rId7" Type="http://schemas.openxmlformats.org/officeDocument/2006/relationships/image" Target="../media/image9.png"/><Relationship Id="rId6" Type="http://schemas.openxmlformats.org/officeDocument/2006/relationships/tags" Target="../tags/tag3.xml"/><Relationship Id="rId5" Type="http://schemas.openxmlformats.org/officeDocument/2006/relationships/tags" Target="../tags/tag2.xml"/><Relationship Id="rId4" Type="http://schemas.openxmlformats.org/officeDocument/2006/relationships/image" Target="../media/image8.svg"/><Relationship Id="rId3" Type="http://schemas.openxmlformats.org/officeDocument/2006/relationships/image" Target="../media/image7.png"/><Relationship Id="rId23" Type="http://schemas.openxmlformats.org/officeDocument/2006/relationships/notesSlide" Target="../notesSlides/notesSlide2.xml"/><Relationship Id="rId22" Type="http://schemas.openxmlformats.org/officeDocument/2006/relationships/slideLayout" Target="../slideLayouts/slideLayout12.xml"/><Relationship Id="rId21" Type="http://schemas.openxmlformats.org/officeDocument/2006/relationships/tags" Target="../tags/tag10.xml"/><Relationship Id="rId20" Type="http://schemas.openxmlformats.org/officeDocument/2006/relationships/image" Target="../media/image16.svg"/><Relationship Id="rId2" Type="http://schemas.openxmlformats.org/officeDocument/2006/relationships/tags" Target="../tags/tag1.xml"/><Relationship Id="rId19" Type="http://schemas.openxmlformats.org/officeDocument/2006/relationships/image" Target="../media/image15.png"/><Relationship Id="rId18" Type="http://schemas.openxmlformats.org/officeDocument/2006/relationships/tags" Target="../tags/tag9.xml"/><Relationship Id="rId17" Type="http://schemas.openxmlformats.org/officeDocument/2006/relationships/tags" Target="../tags/tag8.xml"/><Relationship Id="rId16" Type="http://schemas.openxmlformats.org/officeDocument/2006/relationships/image" Target="../media/image14.svg"/><Relationship Id="rId15" Type="http://schemas.openxmlformats.org/officeDocument/2006/relationships/image" Target="../media/image13.png"/><Relationship Id="rId14" Type="http://schemas.openxmlformats.org/officeDocument/2006/relationships/tags" Target="../tags/tag7.xml"/><Relationship Id="rId13" Type="http://schemas.openxmlformats.org/officeDocument/2006/relationships/tags" Target="../tags/tag6.xml"/><Relationship Id="rId12" Type="http://schemas.openxmlformats.org/officeDocument/2006/relationships/image" Target="../media/image12.svg"/><Relationship Id="rId11" Type="http://schemas.openxmlformats.org/officeDocument/2006/relationships/image" Target="../media/image11.png"/><Relationship Id="rId10" Type="http://schemas.openxmlformats.org/officeDocument/2006/relationships/tags" Target="../tags/tag5.xml"/><Relationship Id="rId1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16.xml"/><Relationship Id="rId8" Type="http://schemas.openxmlformats.org/officeDocument/2006/relationships/tags" Target="../tags/tag15.xml"/><Relationship Id="rId7" Type="http://schemas.openxmlformats.org/officeDocument/2006/relationships/tags" Target="../tags/tag14.xml"/><Relationship Id="rId6" Type="http://schemas.openxmlformats.org/officeDocument/2006/relationships/tags" Target="../tags/tag13.xml"/><Relationship Id="rId5" Type="http://schemas.openxmlformats.org/officeDocument/2006/relationships/image" Target="../media/image18.svg"/><Relationship Id="rId4" Type="http://schemas.openxmlformats.org/officeDocument/2006/relationships/image" Target="../media/image17.png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7" Type="http://schemas.openxmlformats.org/officeDocument/2006/relationships/notesSlide" Target="../notesSlides/notesSlide3.xml"/><Relationship Id="rId16" Type="http://schemas.openxmlformats.org/officeDocument/2006/relationships/slideLayout" Target="../slideLayouts/slideLayout12.xml"/><Relationship Id="rId15" Type="http://schemas.openxmlformats.org/officeDocument/2006/relationships/tags" Target="../tags/tag20.xml"/><Relationship Id="rId14" Type="http://schemas.openxmlformats.org/officeDocument/2006/relationships/tags" Target="../tags/tag19.xml"/><Relationship Id="rId13" Type="http://schemas.openxmlformats.org/officeDocument/2006/relationships/tags" Target="../tags/tag18.xml"/><Relationship Id="rId12" Type="http://schemas.openxmlformats.org/officeDocument/2006/relationships/image" Target="../media/image20.svg"/><Relationship Id="rId11" Type="http://schemas.openxmlformats.org/officeDocument/2006/relationships/image" Target="../media/image19.png"/><Relationship Id="rId10" Type="http://schemas.openxmlformats.org/officeDocument/2006/relationships/tags" Target="../tags/tag17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4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26.svg"/><Relationship Id="rId6" Type="http://schemas.openxmlformats.org/officeDocument/2006/relationships/image" Target="../media/image25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7" Type="http://schemas.openxmlformats.org/officeDocument/2006/relationships/slideLayout" Target="../slideLayouts/slideLayout13.xml"/><Relationship Id="rId6" Type="http://schemas.openxmlformats.org/officeDocument/2006/relationships/image" Target="../media/image31.jpeg"/><Relationship Id="rId5" Type="http://schemas.openxmlformats.org/officeDocument/2006/relationships/image" Target="../media/image30.svg"/><Relationship Id="rId4" Type="http://schemas.openxmlformats.org/officeDocument/2006/relationships/image" Target="../media/image29.png"/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38.svg"/><Relationship Id="rId8" Type="http://schemas.openxmlformats.org/officeDocument/2006/relationships/image" Target="../media/image37.png"/><Relationship Id="rId7" Type="http://schemas.openxmlformats.org/officeDocument/2006/relationships/image" Target="../media/image36.svg"/><Relationship Id="rId6" Type="http://schemas.openxmlformats.org/officeDocument/2006/relationships/image" Target="../media/image35.png"/><Relationship Id="rId5" Type="http://schemas.openxmlformats.org/officeDocument/2006/relationships/image" Target="../media/image34.svg"/><Relationship Id="rId4" Type="http://schemas.openxmlformats.org/officeDocument/2006/relationships/image" Target="../media/image33.png"/><Relationship Id="rId3" Type="http://schemas.openxmlformats.org/officeDocument/2006/relationships/image" Target="../media/image8.svg"/><Relationship Id="rId2" Type="http://schemas.openxmlformats.org/officeDocument/2006/relationships/image" Target="../media/image32.png"/><Relationship Id="rId12" Type="http://schemas.openxmlformats.org/officeDocument/2006/relationships/notesSlide" Target="../notesSlides/notesSlide7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39.jpeg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47.svg"/><Relationship Id="rId8" Type="http://schemas.openxmlformats.org/officeDocument/2006/relationships/image" Target="../media/image46.png"/><Relationship Id="rId7" Type="http://schemas.openxmlformats.org/officeDocument/2006/relationships/image" Target="../media/image45.svg"/><Relationship Id="rId6" Type="http://schemas.openxmlformats.org/officeDocument/2006/relationships/image" Target="../media/image44.png"/><Relationship Id="rId5" Type="http://schemas.openxmlformats.org/officeDocument/2006/relationships/image" Target="../media/image43.svg"/><Relationship Id="rId4" Type="http://schemas.openxmlformats.org/officeDocument/2006/relationships/image" Target="../media/image42.png"/><Relationship Id="rId3" Type="http://schemas.openxmlformats.org/officeDocument/2006/relationships/image" Target="../media/image41.svg"/><Relationship Id="rId2" Type="http://schemas.openxmlformats.org/officeDocument/2006/relationships/image" Target="../media/image40.png"/><Relationship Id="rId15" Type="http://schemas.openxmlformats.org/officeDocument/2006/relationships/notesSlide" Target="../notesSlides/notesSlide8.xml"/><Relationship Id="rId14" Type="http://schemas.openxmlformats.org/officeDocument/2006/relationships/slideLayout" Target="../slideLayouts/slideLayout12.xml"/><Relationship Id="rId13" Type="http://schemas.openxmlformats.org/officeDocument/2006/relationships/image" Target="../media/image51.svg"/><Relationship Id="rId12" Type="http://schemas.openxmlformats.org/officeDocument/2006/relationships/image" Target="../media/image50.png"/><Relationship Id="rId11" Type="http://schemas.openxmlformats.org/officeDocument/2006/relationships/image" Target="../media/image49.svg"/><Relationship Id="rId10" Type="http://schemas.openxmlformats.org/officeDocument/2006/relationships/image" Target="../media/image48.png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58.svg"/><Relationship Id="rId7" Type="http://schemas.openxmlformats.org/officeDocument/2006/relationships/image" Target="../media/image57.png"/><Relationship Id="rId6" Type="http://schemas.openxmlformats.org/officeDocument/2006/relationships/image" Target="../media/image56.jpeg"/><Relationship Id="rId5" Type="http://schemas.openxmlformats.org/officeDocument/2006/relationships/image" Target="../media/image55.svg"/><Relationship Id="rId4" Type="http://schemas.openxmlformats.org/officeDocument/2006/relationships/image" Target="../media/image54.png"/><Relationship Id="rId3" Type="http://schemas.openxmlformats.org/officeDocument/2006/relationships/image" Target="../media/image53.svg"/><Relationship Id="rId2" Type="http://schemas.openxmlformats.org/officeDocument/2006/relationships/image" Target="../media/image52.png"/><Relationship Id="rId10" Type="http://schemas.openxmlformats.org/officeDocument/2006/relationships/notesSlide" Target="../notesSlides/notesSlide9.xml"/><Relationship Id="rId1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65.svg"/><Relationship Id="rId8" Type="http://schemas.openxmlformats.org/officeDocument/2006/relationships/image" Target="../media/image64.png"/><Relationship Id="rId7" Type="http://schemas.openxmlformats.org/officeDocument/2006/relationships/image" Target="../media/image63.svg"/><Relationship Id="rId6" Type="http://schemas.openxmlformats.org/officeDocument/2006/relationships/image" Target="../media/image62.png"/><Relationship Id="rId5" Type="http://schemas.openxmlformats.org/officeDocument/2006/relationships/image" Target="../media/image20.svg"/><Relationship Id="rId4" Type="http://schemas.openxmlformats.org/officeDocument/2006/relationships/image" Target="../media/image61.png"/><Relationship Id="rId3" Type="http://schemas.openxmlformats.org/officeDocument/2006/relationships/image" Target="../media/image60.svg"/><Relationship Id="rId21" Type="http://schemas.openxmlformats.org/officeDocument/2006/relationships/notesSlide" Target="../notesSlides/notesSlide10.xml"/><Relationship Id="rId20" Type="http://schemas.openxmlformats.org/officeDocument/2006/relationships/slideLayout" Target="../slideLayouts/slideLayout12.xml"/><Relationship Id="rId2" Type="http://schemas.openxmlformats.org/officeDocument/2006/relationships/image" Target="../media/image59.png"/><Relationship Id="rId19" Type="http://schemas.openxmlformats.org/officeDocument/2006/relationships/image" Target="../media/image75.svg"/><Relationship Id="rId18" Type="http://schemas.openxmlformats.org/officeDocument/2006/relationships/image" Target="../media/image74.png"/><Relationship Id="rId17" Type="http://schemas.openxmlformats.org/officeDocument/2006/relationships/image" Target="../media/image73.svg"/><Relationship Id="rId16" Type="http://schemas.openxmlformats.org/officeDocument/2006/relationships/image" Target="../media/image72.png"/><Relationship Id="rId15" Type="http://schemas.openxmlformats.org/officeDocument/2006/relationships/image" Target="../media/image71.svg"/><Relationship Id="rId14" Type="http://schemas.openxmlformats.org/officeDocument/2006/relationships/image" Target="../media/image70.png"/><Relationship Id="rId13" Type="http://schemas.openxmlformats.org/officeDocument/2006/relationships/image" Target="../media/image69.svg"/><Relationship Id="rId12" Type="http://schemas.openxmlformats.org/officeDocument/2006/relationships/image" Target="../media/image68.png"/><Relationship Id="rId11" Type="http://schemas.openxmlformats.org/officeDocument/2006/relationships/image" Target="../media/image67.svg"/><Relationship Id="rId10" Type="http://schemas.openxmlformats.org/officeDocument/2006/relationships/image" Target="../media/image66.png"/><Relationship Id="rId1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26.xml"/><Relationship Id="rId8" Type="http://schemas.openxmlformats.org/officeDocument/2006/relationships/tags" Target="../tags/tag25.xml"/><Relationship Id="rId7" Type="http://schemas.openxmlformats.org/officeDocument/2006/relationships/tags" Target="../tags/tag24.xml"/><Relationship Id="rId6" Type="http://schemas.openxmlformats.org/officeDocument/2006/relationships/tags" Target="../tags/tag23.xml"/><Relationship Id="rId5" Type="http://schemas.openxmlformats.org/officeDocument/2006/relationships/image" Target="../media/image77.svg"/><Relationship Id="rId4" Type="http://schemas.openxmlformats.org/officeDocument/2006/relationships/image" Target="../media/image76.png"/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7" Type="http://schemas.openxmlformats.org/officeDocument/2006/relationships/notesSlide" Target="../notesSlides/notesSlide11.xml"/><Relationship Id="rId16" Type="http://schemas.openxmlformats.org/officeDocument/2006/relationships/slideLayout" Target="../slideLayouts/slideLayout12.xml"/><Relationship Id="rId15" Type="http://schemas.openxmlformats.org/officeDocument/2006/relationships/tags" Target="../tags/tag30.xml"/><Relationship Id="rId14" Type="http://schemas.openxmlformats.org/officeDocument/2006/relationships/tags" Target="../tags/tag29.xml"/><Relationship Id="rId13" Type="http://schemas.openxmlformats.org/officeDocument/2006/relationships/tags" Target="../tags/tag28.xml"/><Relationship Id="rId12" Type="http://schemas.openxmlformats.org/officeDocument/2006/relationships/image" Target="../media/image79.svg"/><Relationship Id="rId11" Type="http://schemas.openxmlformats.org/officeDocument/2006/relationships/image" Target="../media/image78.png"/><Relationship Id="rId10" Type="http://schemas.openxmlformats.org/officeDocument/2006/relationships/tags" Target="../tags/tag27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016000" y="2032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Progress Report on the Bipedal Robot Project</a:t>
            </a:r>
            <a:endParaRPr lang="en-US" sz="3600" b="1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1016000" y="2921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>
                <a:solidFill>
                  <a:srgbClr val="00F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Material organization and future plans</a:t>
            </a:r>
            <a:endParaRPr lang="en-US" sz="2000">
              <a:solidFill>
                <a:srgbClr val="00F5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cxnSp>
        <p:nvCxnSpPr>
          <p:cNvPr id="5" name="Connector 5"/>
          <p:cNvCxnSpPr/>
          <p:nvPr/>
        </p:nvCxnSpPr>
        <p:spPr>
          <a:xfrm rot="-34376">
            <a:off x="1016032" y="35496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50800" cap="flat" cmpd="sng">
            <a:solidFill>
              <a:srgbClr val="00A9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3937000"/>
            <a:ext cx="254000" cy="254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397000" y="39116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sz="14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Presenter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4318000"/>
            <a:ext cx="254000" cy="254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397000" y="42926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date：2026/3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762000" y="1016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cene3d>
              <a:camera prst="orthographicFront"/>
              <a:lightRig rig="threePt" dir="t"/>
            </a:scene3d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Poppins"/>
                <a:ea typeface="Poppins"/>
                <a:cs typeface="Poppins"/>
                <a:sym typeface="Poppins"/>
              </a:rPr>
              <a:t>CONTENTS</a:t>
            </a:r>
            <a:endParaRPr lang="en-US" sz="3600" b="1" i="0" u="none" strike="noStrike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762000" y="206375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1F2329">
              <a:alpha val="80000"/>
            </a:srgbClr>
          </a:solidFill>
          <a:ln w="12700" cap="flat" cmpd="sng">
            <a:solidFill>
              <a:srgbClr val="00A9FF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6800" y="2235200"/>
            <a:ext cx="355600" cy="355600"/>
          </a:xfrm>
          <a:prstGeom prst="rect">
            <a:avLst/>
          </a:prstGeom>
        </p:spPr>
      </p:pic>
      <p:sp>
        <p:nvSpPr>
          <p:cNvPr id="6" name="AutoShape 6"/>
          <p:cNvSpPr/>
          <p:nvPr>
            <p:custDataLst>
              <p:tags r:id="rId5"/>
            </p:custDataLst>
          </p:nvPr>
        </p:nvSpPr>
        <p:spPr>
          <a:xfrm>
            <a:off x="1651000" y="2222500"/>
            <a:ext cx="889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</a:t>
            </a:r>
            <a:r>
              <a:rPr lang="en-US" sz="1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Project Background and Objectives</a:t>
            </a:r>
            <a:endParaRPr lang="en-US" sz="1800" b="1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762000" y="2921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1F2329">
              <a:alpha val="80000"/>
            </a:srgbClr>
          </a:solidFill>
          <a:ln w="12700" cap="flat" cmpd="sng">
            <a:solidFill>
              <a:srgbClr val="00A9FF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66800" y="3124200"/>
            <a:ext cx="355600" cy="355600"/>
          </a:xfrm>
          <a:prstGeom prst="rect">
            <a:avLst/>
          </a:prstGeom>
        </p:spPr>
      </p:pic>
      <p:sp>
        <p:nvSpPr>
          <p:cNvPr id="9" name="AutoShape 9"/>
          <p:cNvSpPr/>
          <p:nvPr>
            <p:custDataLst>
              <p:tags r:id="rId9"/>
            </p:custDataLst>
          </p:nvPr>
        </p:nvSpPr>
        <p:spPr>
          <a:xfrm>
            <a:off x="1651000" y="3111500"/>
            <a:ext cx="889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</a:t>
            </a:r>
            <a:r>
              <a:rPr lang="en-US" sz="1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Review of Preliminary Work</a:t>
            </a:r>
            <a:endParaRPr lang="en-US" sz="1800" b="1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762000" y="3810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1F2329">
              <a:alpha val="80000"/>
            </a:srgbClr>
          </a:solidFill>
          <a:ln w="12700" cap="flat" cmpd="sng">
            <a:solidFill>
              <a:srgbClr val="00A9FF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66800" y="4013200"/>
            <a:ext cx="355600" cy="355600"/>
          </a:xfrm>
          <a:prstGeom prst="rect">
            <a:avLst/>
          </a:prstGeom>
        </p:spPr>
      </p:pic>
      <p:sp>
        <p:nvSpPr>
          <p:cNvPr id="12" name="AutoShape 12"/>
          <p:cNvSpPr/>
          <p:nvPr>
            <p:custDataLst>
              <p:tags r:id="rId13"/>
            </p:custDataLst>
          </p:nvPr>
        </p:nvSpPr>
        <p:spPr>
          <a:xfrm>
            <a:off x="1651000" y="4000500"/>
            <a:ext cx="889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03. </a:t>
            </a:r>
            <a:r>
              <a:rPr lang="en-US" sz="1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Material organization and analysis</a:t>
            </a:r>
            <a:endParaRPr lang="en-US" sz="1800" b="1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762000" y="4699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1F2329">
              <a:alpha val="80000"/>
            </a:srgbClr>
          </a:solidFill>
          <a:ln w="12700" cap="flat" cmpd="sng">
            <a:solidFill>
              <a:srgbClr val="00A9FF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66800" y="4902200"/>
            <a:ext cx="355600" cy="355600"/>
          </a:xfrm>
          <a:prstGeom prst="rect">
            <a:avLst/>
          </a:prstGeom>
        </p:spPr>
      </p:pic>
      <p:sp>
        <p:nvSpPr>
          <p:cNvPr id="15" name="AutoShape 15"/>
          <p:cNvSpPr/>
          <p:nvPr>
            <p:custDataLst>
              <p:tags r:id="rId17"/>
            </p:custDataLst>
          </p:nvPr>
        </p:nvSpPr>
        <p:spPr>
          <a:xfrm>
            <a:off x="1651000" y="4889500"/>
            <a:ext cx="889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04. Future plan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5588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1F2329">
              <a:alpha val="80000"/>
            </a:srgbClr>
          </a:solidFill>
          <a:ln w="12700" cap="flat" cmpd="sng">
            <a:solidFill>
              <a:srgbClr val="00A9FF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066800" y="5791200"/>
            <a:ext cx="355600" cy="355600"/>
          </a:xfrm>
          <a:prstGeom prst="rect">
            <a:avLst/>
          </a:prstGeom>
        </p:spPr>
      </p:pic>
      <p:sp>
        <p:nvSpPr>
          <p:cNvPr id="18" name="AutoShape 18"/>
          <p:cNvSpPr/>
          <p:nvPr>
            <p:custDataLst>
              <p:tags r:id="rId21"/>
            </p:custDataLst>
          </p:nvPr>
        </p:nvSpPr>
        <p:spPr>
          <a:xfrm>
            <a:off x="1651000" y="5778500"/>
            <a:ext cx="889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05. </a:t>
            </a:r>
            <a:r>
              <a:rPr lang="en-US" sz="1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Summary and Outlook</a:t>
            </a:r>
            <a:endParaRPr lang="en-US" sz="1800" b="1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016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Project Background and Objectives - Core Objective</a:t>
            </a:r>
            <a:endParaRPr lang="en-US" sz="3600" b="1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" name="AutoShape 5"/>
          <p:cNvSpPr/>
          <p:nvPr>
            <p:custDataLst>
              <p:tags r:id="rId2"/>
            </p:custDataLst>
          </p:nvPr>
        </p:nvSpPr>
        <p:spPr>
          <a:xfrm>
            <a:off x="762000" y="2159000"/>
            <a:ext cx="5080000" cy="3556000"/>
          </a:xfrm>
          <a:prstGeom prst="roundRect">
            <a:avLst>
              <a:gd name="adj" fmla="val 3571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A9F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3000" y="2540000"/>
            <a:ext cx="609600" cy="609600"/>
          </a:xfrm>
          <a:prstGeom prst="rect">
            <a:avLst/>
          </a:prstGeom>
        </p:spPr>
      </p:pic>
      <p:sp>
        <p:nvSpPr>
          <p:cNvPr id="7" name="AutoShape 7"/>
          <p:cNvSpPr/>
          <p:nvPr>
            <p:custDataLst>
              <p:tags r:id="rId6"/>
            </p:custDataLst>
          </p:nvPr>
        </p:nvSpPr>
        <p:spPr>
          <a:xfrm>
            <a:off x="1905000" y="2616200"/>
            <a:ext cx="3810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0A9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short target</a:t>
            </a:r>
            <a:r>
              <a:rPr lang="zh-CN" altLang="en-US" sz="2400" b="1" i="0" u="none" strike="noStrike">
                <a:solidFill>
                  <a:srgbClr val="00A9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r>
              <a:rPr lang="en-US" altLang="zh-CN" sz="2400" b="1" i="0" u="none" strike="noStrike">
                <a:solidFill>
                  <a:srgbClr val="00A9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Fundation and walking</a:t>
            </a:r>
            <a:endParaRPr lang="zh-CN" altLang="en-US" sz="2400" b="1" i="0" u="none" strike="noStrike">
              <a:solidFill>
                <a:srgbClr val="00A9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8" name="Connector 8"/>
          <p:cNvCxnSpPr/>
          <p:nvPr>
            <p:custDataLst>
              <p:tags r:id="rId7"/>
            </p:custDataLst>
          </p:nvPr>
        </p:nvCxnSpPr>
        <p:spPr>
          <a:xfrm rot="-10110">
            <a:off x="1143009" y="3295650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>
            <p:custDataLst>
              <p:tags r:id="rId8"/>
            </p:custDataLst>
          </p:nvPr>
        </p:nvSpPr>
        <p:spPr>
          <a:xfrm>
            <a:off x="1143000" y="3492500"/>
            <a:ext cx="4318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500" b="0" i="0" u="none" strike="noStrike">
              <a:solidFill>
                <a:srgbClr val="E5E7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en-US" sz="1500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Complete the mechanical structure design and hardware setup of a 6-degree-of-freedom biped robot, achieving stable straight-line walking posture, and laying the physical foundation for the project.</a:t>
            </a:r>
            <a:endParaRPr lang="en-US" sz="1500">
              <a:solidFill>
                <a:srgbClr val="E5E7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0" name="AutoShape 10"/>
          <p:cNvSpPr/>
          <p:nvPr>
            <p:custDataLst>
              <p:tags r:id="rId9"/>
            </p:custDataLst>
          </p:nvPr>
        </p:nvSpPr>
        <p:spPr>
          <a:xfrm>
            <a:off x="6350000" y="2159000"/>
            <a:ext cx="5080000" cy="3556000"/>
          </a:xfrm>
          <a:prstGeom prst="roundRect">
            <a:avLst>
              <a:gd name="adj" fmla="val 3571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F5F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731000" y="2540000"/>
            <a:ext cx="609600" cy="609600"/>
          </a:xfrm>
          <a:prstGeom prst="rect">
            <a:avLst/>
          </a:prstGeom>
        </p:spPr>
      </p:pic>
      <p:sp>
        <p:nvSpPr>
          <p:cNvPr id="12" name="AutoShape 12"/>
          <p:cNvSpPr/>
          <p:nvPr>
            <p:custDataLst>
              <p:tags r:id="rId13"/>
            </p:custDataLst>
          </p:nvPr>
        </p:nvSpPr>
        <p:spPr>
          <a:xfrm>
            <a:off x="7493000" y="2616200"/>
            <a:ext cx="3810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0F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long-term aim</a:t>
            </a:r>
            <a:endParaRPr lang="en-US" sz="1100"/>
          </a:p>
        </p:txBody>
      </p:sp>
      <p:cxnSp>
        <p:nvCxnSpPr>
          <p:cNvPr id="13" name="Connector 13"/>
          <p:cNvCxnSpPr/>
          <p:nvPr>
            <p:custDataLst>
              <p:tags r:id="rId14"/>
            </p:custDataLst>
          </p:nvPr>
        </p:nvCxnSpPr>
        <p:spPr>
          <a:xfrm rot="-10110">
            <a:off x="6731009" y="3295650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>
            <p:custDataLst>
              <p:tags r:id="rId15"/>
            </p:custDataLst>
          </p:nvPr>
        </p:nvSpPr>
        <p:spPr>
          <a:xfrm>
            <a:off x="6731000" y="3492500"/>
            <a:ext cx="4318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Based on the basic platform, conduct in-depth exploration of more complex gait planning algorithms and environmental perception capabilities, achieving obstacle avoidance functions and the ability to identify specific objects.</a:t>
            </a:r>
            <a:endParaRPr lang="en-US" sz="1500">
              <a:solidFill>
                <a:srgbClr val="E5E7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762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Review of Preliminary Work - Scheme Determination</a:t>
            </a:r>
            <a:endParaRPr lang="en-US" sz="3600" b="1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62000" y="1778000"/>
            <a:ext cx="10668000" cy="4318000"/>
          </a:xfrm>
          <a:prstGeom prst="roundRect">
            <a:avLst>
              <a:gd name="adj" fmla="val 2941"/>
            </a:avLst>
          </a:prstGeom>
          <a:solidFill>
            <a:srgbClr val="0A192F">
              <a:alpha val="85000"/>
            </a:srgbClr>
          </a:solidFill>
          <a:ln w="12700" cap="flat" cmpd="sng">
            <a:solidFill>
              <a:srgbClr val="00A9FF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032000"/>
            <a:ext cx="304800" cy="3048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397000" y="2006600"/>
            <a:ext cx="9698355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>
                <a:solidFill>
                  <a:srgbClr val="00A9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6-degree-of-freedom bipedal structure design</a:t>
            </a:r>
            <a:endParaRPr lang="en-US" sz="2000" b="1">
              <a:solidFill>
                <a:srgbClr val="00A9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cxnSp>
        <p:nvCxnSpPr>
          <p:cNvPr id="6" name="Connector 6"/>
          <p:cNvCxnSpPr/>
          <p:nvPr/>
        </p:nvCxnSpPr>
        <p:spPr>
          <a:xfrm rot="-9549">
            <a:off x="1016009" y="24701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A9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2730500"/>
            <a:ext cx="254000" cy="2540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397000" y="2692400"/>
            <a:ext cx="787019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Degree of Freedom Allocation Scheme</a:t>
            </a:r>
            <a:endParaRPr lang="en-US" sz="1600" b="1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1397000" y="3022600"/>
            <a:ext cx="9746615" cy="596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Each leg consists of 3 core degrees of freedom: the forward-backward and left-right swinging of the hip joint, as well as the bending of the knee joint. In total, there are 6 degrees of freedom.</a:t>
            </a:r>
            <a:endParaRPr lang="en-US" sz="1400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3904615"/>
            <a:ext cx="254000" cy="254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397000" y="3853815"/>
            <a:ext cx="419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advantages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397000" y="3975100"/>
            <a:ext cx="9364345" cy="108648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Adopting a classic minimalist architecture, while ensuring the basic movement capabilities, significantly reduces the complexity of mechanical design and control algorithms. It is an ideal platform for beginners' research.</a:t>
            </a:r>
            <a:endParaRPr lang="en-US" sz="1400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6223000" y="55245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70180" y="762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plan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032000"/>
            <a:ext cx="304800" cy="304800"/>
          </a:xfrm>
          <a:prstGeom prst="rect">
            <a:avLst/>
          </a:prstGeom>
        </p:spPr>
      </p:pic>
      <p:cxnSp>
        <p:nvCxnSpPr>
          <p:cNvPr id="6" name="Connector 6"/>
          <p:cNvCxnSpPr/>
          <p:nvPr/>
        </p:nvCxnSpPr>
        <p:spPr>
          <a:xfrm rot="-9549">
            <a:off x="1016009" y="24701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A9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2730500"/>
            <a:ext cx="254000" cy="254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397000" y="3670300"/>
            <a:ext cx="419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397000" y="3975100"/>
            <a:ext cx="9364345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223000" y="55245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endParaRPr lang="en-US" sz="1100"/>
          </a:p>
        </p:txBody>
      </p:sp>
      <p:pic>
        <p:nvPicPr>
          <p:cNvPr id="14" name="图片 13" descr="eddff03efb53feefd1fcd4c73b02d89f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48375" y="0"/>
            <a:ext cx="6143625" cy="6858000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1400810" y="3225800"/>
            <a:ext cx="46475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36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design graph</a:t>
            </a:r>
            <a:endParaRPr lang="en-US" sz="3600" b="1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249555" y="574040"/>
            <a:ext cx="1277239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cene3d>
              <a:camera prst="orthographicFront"/>
              <a:lightRig rig="threePt" dir="t"/>
            </a:scene3d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Review of Preliminary Work - Selection of Key Components</a:t>
            </a:r>
            <a:endParaRPr lang="en-US" sz="3600" b="1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5080000" cy="5080000"/>
          </a:xfrm>
          <a:prstGeom prst="roundRect">
            <a:avLst>
              <a:gd name="adj" fmla="val 2500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00A9FF">
                <a:alpha val="50000"/>
              </a:srgbClr>
            </a:solidFill>
            <a:prstDash val="solid"/>
            <a:round/>
          </a:ln>
        </p:spPr>
        <p:txBody>
          <a:bodyPr vert="horz" wrap="square" lIns="254000" tIns="254000" rIns="254000" bIns="25400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>
                <a:solidFill>
                  <a:srgbClr val="00A9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Control and Vision Categories</a:t>
            </a:r>
            <a:endParaRPr lang="en-US" sz="1800" b="1">
              <a:solidFill>
                <a:srgbClr val="00A9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177800" indent="-177800" algn="ctr">
              <a:lnSpc>
                <a:spcPct val="125000"/>
              </a:lnSpc>
              <a:buClr>
                <a:srgbClr val="0F172A"/>
              </a:buClr>
              <a:buChar char="•"/>
            </a:pPr>
            <a:r>
              <a:rPr lang="en-US" sz="1400" b="0" i="0" u="none" strike="noStrike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heart:</a:t>
            </a: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ESP32 开发板 (ESP32 DevKit V1)</a:t>
            </a:r>
            <a:endParaRPr lang="en-US" sz="13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77800" indent="-177800" algn="ctr">
              <a:lnSpc>
                <a:spcPct val="125000"/>
              </a:lnSpc>
              <a:buClr>
                <a:srgbClr val="0F172A"/>
              </a:buClr>
              <a:buChar char="•"/>
            </a:pPr>
            <a:r>
              <a:rPr lang="en-US" sz="1400" b="0" i="0" u="none" strike="noStrike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modue:</a:t>
            </a: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ESP32-CAM (with OV2640 camera)</a:t>
            </a:r>
            <a:endParaRPr lang="en-US" sz="13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ctr">
              <a:lnSpc>
                <a:spcPct val="125000"/>
              </a:lnSpc>
            </a:pPr>
          </a:p>
          <a:p>
            <a:pPr indent="0" algn="ctr">
              <a:lnSpc>
                <a:spcPct val="125000"/>
              </a:lnSpc>
            </a:pPr>
            <a:r>
              <a:rPr lang="en-US" altLang="zh-CN" sz="1800" b="1" i="0" u="none" strike="noStrike">
                <a:solidFill>
                  <a:srgbClr val="00A9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Sensor and Drive Components</a:t>
            </a:r>
            <a:endParaRPr lang="en-US" altLang="zh-CN" sz="1800" b="1" i="0" u="none" strike="noStrike">
              <a:solidFill>
                <a:srgbClr val="00A9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77800" indent="-177800" algn="ctr">
              <a:lnSpc>
                <a:spcPct val="125000"/>
              </a:lnSpc>
              <a:buClr>
                <a:srgbClr val="0F172A"/>
              </a:buClr>
              <a:buChar char="•"/>
            </a:pPr>
            <a:r>
              <a:rPr lang="en-US" altLang="zh-CN" sz="1400" b="0" i="0" u="none" strike="noStrike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Posture balance sensor</a:t>
            </a:r>
            <a:r>
              <a:rPr lang="en-US" sz="1400" b="0" i="0" u="none" strike="noStrike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:</a:t>
            </a: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GY-521 MPU6050 model</a:t>
            </a:r>
            <a:endParaRPr lang="en-US" sz="13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77800" indent="-177800" algn="ctr">
              <a:lnSpc>
                <a:spcPct val="125000"/>
              </a:lnSpc>
              <a:buClr>
                <a:srgbClr val="0F172A"/>
              </a:buClr>
              <a:buChar char="•"/>
            </a:pPr>
            <a:r>
              <a:rPr lang="en-US" altLang="zh-CN" sz="1400" b="0" i="0" u="none" strike="noStrike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Multi-channel Servo Driver Board</a:t>
            </a:r>
            <a:r>
              <a:rPr lang="en-US" sz="1400" b="0" i="0" u="none" strike="noStrike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:</a:t>
            </a: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PCA9685 (16path 12-bit)</a:t>
            </a:r>
            <a:endParaRPr lang="en-US" sz="13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6096000" y="1651000"/>
            <a:ext cx="5080000" cy="5080000"/>
          </a:xfrm>
          <a:prstGeom prst="roundRect">
            <a:avLst>
              <a:gd name="adj" fmla="val 2500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00A9FF">
                <a:alpha val="50000"/>
              </a:srgbClr>
            </a:solidFill>
            <a:prstDash val="solid"/>
            <a:round/>
          </a:ln>
        </p:spPr>
        <p:txBody>
          <a:bodyPr vert="horz" wrap="square" lIns="254000" tIns="254000" rIns="254000" bIns="25400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>
                <a:solidFill>
                  <a:srgbClr val="00A9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Power joints (muscles)</a:t>
            </a:r>
            <a:endParaRPr lang="en-US" sz="1800" b="1">
              <a:solidFill>
                <a:srgbClr val="00A9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177800" indent="-177800" algn="ctr">
              <a:lnSpc>
                <a:spcPct val="125000"/>
              </a:lnSpc>
              <a:buClr>
                <a:srgbClr val="0F172A"/>
              </a:buClr>
              <a:buChar char="•"/>
            </a:pPr>
            <a:r>
              <a:rPr lang="en-US" altLang="zh-CN" sz="1400" b="0" i="0" u="none" strike="noStrike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Medium-sized main steering gear (6 units)</a:t>
            </a:r>
            <a:r>
              <a:rPr lang="en-US" sz="1400" b="0" i="0" u="none" strike="noStrike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:</a:t>
            </a: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MG996R (180)，size：wide 20mm x long 40.5mm</a:t>
            </a:r>
            <a:endParaRPr lang="en-US" sz="13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77800" indent="-177800" algn="ctr">
              <a:lnSpc>
                <a:spcPct val="125000"/>
              </a:lnSpc>
              <a:buClr>
                <a:srgbClr val="0F172A"/>
              </a:buClr>
              <a:buChar char="•"/>
            </a:pPr>
            <a:r>
              <a:rPr lang="en-US" altLang="zh-CN" sz="1400" b="0" i="0" u="none" strike="noStrike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Miniature auxiliary servo motors (4 units)</a:t>
            </a:r>
            <a:r>
              <a:rPr lang="en-US" sz="1400" b="0" i="0" u="none" strike="noStrike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:</a:t>
            </a: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MG90S (180)，size：long 32mm * wide 23mm * tall 12.1mm</a:t>
            </a:r>
            <a:endParaRPr lang="en-US" sz="13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ctr">
              <a:lnSpc>
                <a:spcPct val="125000"/>
              </a:lnSpc>
            </a:pPr>
          </a:p>
          <a:p>
            <a:pPr indent="0" algn="ctr">
              <a:lnSpc>
                <a:spcPct val="125000"/>
              </a:lnSpc>
            </a:pPr>
            <a:r>
              <a:rPr lang="en-US" altLang="zh-CN" sz="1800" b="1" i="0" u="none" strike="noStrike">
                <a:solidFill>
                  <a:srgbClr val="00A9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Energy and Power Supply Category</a:t>
            </a:r>
            <a:endParaRPr lang="en-US" altLang="zh-CN" sz="1800" b="1" i="0" u="none" strike="noStrike">
              <a:solidFill>
                <a:srgbClr val="00A9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77800" indent="-177800" algn="ctr">
              <a:lnSpc>
                <a:spcPct val="125000"/>
              </a:lnSpc>
              <a:buClr>
                <a:srgbClr val="0F172A"/>
              </a:buClr>
              <a:buChar char="•"/>
            </a:pPr>
            <a:r>
              <a:rPr lang="en-US" altLang="zh-CN" sz="1400" b="0" i="0" u="none" strike="noStrike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High-power voltage reduction module</a:t>
            </a:r>
            <a:r>
              <a:rPr lang="en-US" sz="1400" b="0" i="0" u="none" strike="noStrike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:</a:t>
            </a: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LM2596S (with number screen)，size：39 * 66mm</a:t>
            </a:r>
            <a:endParaRPr lang="en-US" sz="13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77800" indent="-177800" algn="ctr">
              <a:lnSpc>
                <a:spcPct val="125000"/>
              </a:lnSpc>
              <a:buClr>
                <a:srgbClr val="0F172A"/>
              </a:buClr>
              <a:buChar char="•"/>
            </a:pPr>
            <a:r>
              <a:rPr lang="en-US" altLang="zh-CN" sz="1400" b="0" i="0" u="none" strike="noStrike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Main power supply lithium battery pack</a:t>
            </a:r>
            <a:r>
              <a:rPr lang="en-US" sz="1400" b="0" i="0" u="none" strike="noStrike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:</a:t>
            </a: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LB218B (7.4V)，size：long 69mm * wide 37mm * tall 18.8mm</a:t>
            </a:r>
            <a:endParaRPr lang="en-US" sz="13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762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Future Work Plan - Phase 1: Mechanical Modeling</a:t>
            </a:r>
            <a:endParaRPr lang="en-US" sz="3600" b="1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62000" y="1778000"/>
            <a:ext cx="6604000" cy="4318000"/>
          </a:xfrm>
          <a:prstGeom prst="roundRect">
            <a:avLst>
              <a:gd name="adj" fmla="val 2941"/>
            </a:avLst>
          </a:prstGeom>
          <a:solidFill>
            <a:srgbClr val="FFFFFF">
              <a:alpha val="80000"/>
            </a:srgbClr>
          </a:solidFill>
          <a:ln w="12700" cap="flat" cmpd="sng">
            <a:solidFill>
              <a:srgbClr val="00A9FF">
                <a:alpha val="5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032000"/>
            <a:ext cx="304800" cy="3048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397000" y="2006600"/>
            <a:ext cx="571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step aim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387600"/>
            <a:ext cx="584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Complete the 3D model design and engineering drawing output of the robot, ensuring the rationality of the structure.</a:t>
            </a:r>
            <a:endParaRPr lang="en-US" sz="1400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cxnSp>
        <p:nvCxnSpPr>
          <p:cNvPr id="7" name="Connector 7"/>
          <p:cNvCxnSpPr/>
          <p:nvPr/>
        </p:nvCxnSpPr>
        <p:spPr>
          <a:xfrm rot="-7161">
            <a:off x="1016007" y="2978150"/>
            <a:ext cx="609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31750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397000" y="3149600"/>
            <a:ext cx="571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lnSpc>
                <a:spcPct val="125000"/>
              </a:lnSpc>
              <a:buSzTx/>
              <a:defRPr/>
            </a:pPr>
            <a:r>
              <a:rPr lang="en-US" sz="1800" b="1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Specific task breakdown</a:t>
            </a:r>
            <a:endParaRPr lang="en-US" sz="1800" b="1">
              <a:solidFill>
                <a:srgbClr val="2563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3657600"/>
            <a:ext cx="203200" cy="2032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270000" y="3556000"/>
            <a:ext cx="558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sz="14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use</a:t>
            </a:r>
            <a:r>
              <a:rPr lang="en-US" sz="14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SolidWorks </a:t>
            </a:r>
            <a:endParaRPr lang="en-US" sz="110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3962400"/>
            <a:ext cx="203200" cy="2032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270000" y="3860800"/>
            <a:ext cx="614934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lnSpc>
                <a:spcPct val="125000"/>
              </a:lnSpc>
              <a:buSzTx/>
              <a:defRPr/>
            </a:pPr>
            <a:r>
              <a:rPr lang="en-US" sz="1400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Create 3D models of each component of the robot (such as the lower legs)</a:t>
            </a:r>
            <a:endParaRPr lang="en-US" sz="1400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4381500"/>
            <a:ext cx="203200" cy="2032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270000" y="4165600"/>
            <a:ext cx="558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Carry out virtual assembly, check the interference between components and optimize the design.</a:t>
            </a:r>
            <a:endParaRPr lang="en-US" sz="1400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4730750"/>
            <a:ext cx="203200" cy="2032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270000" y="4648200"/>
            <a:ext cx="558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Output engineering drawings (2D views) for processing purposes</a:t>
            </a:r>
            <a:endParaRPr lang="en-US" sz="1400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cxnSp>
        <p:nvCxnSpPr>
          <p:cNvPr id="18" name="Connector 18"/>
          <p:cNvCxnSpPr/>
          <p:nvPr/>
        </p:nvCxnSpPr>
        <p:spPr>
          <a:xfrm rot="-7161">
            <a:off x="1016007" y="4883150"/>
            <a:ext cx="609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19" name="Picture 19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6000" y="50800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1397000" y="5054600"/>
            <a:ext cx="571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time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1016000" y="5435600"/>
            <a:ext cx="584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      plan：2weeks (Week 1 - Week 2)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620000" y="1778000"/>
            <a:ext cx="3810000" cy="4318000"/>
          </a:xfrm>
          <a:prstGeom prst="roundRect">
            <a:avLst>
              <a:gd name="adj" fmla="val 3333"/>
            </a:avLst>
          </a:prstGeom>
          <a:solidFill>
            <a:srgbClr val="FFFFFF">
              <a:alpha val="80000"/>
            </a:srgbClr>
          </a:solidFill>
          <a:ln w="12700" cap="flat" cmpd="sng">
            <a:solidFill>
              <a:srgbClr val="00A9FF">
                <a:alpha val="5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7874000" y="2032000"/>
            <a:ext cx="3302000" cy="3302000"/>
          </a:xfrm>
          <a:prstGeom prst="roundRect">
            <a:avLst>
              <a:gd name="adj" fmla="val 3846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4" name="AutoShape 24"/>
          <p:cNvSpPr/>
          <p:nvPr/>
        </p:nvSpPr>
        <p:spPr>
          <a:xfrm>
            <a:off x="7874000" y="54610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3D model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016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Future Work Plan - Phase 1: Task Decomposition </a:t>
            </a:r>
            <a:endParaRPr lang="en-US" sz="3600" b="1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5080000" cy="4064000"/>
          </a:xfrm>
          <a:prstGeom prst="roundRect">
            <a:avLst>
              <a:gd name="adj" fmla="val 3125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A9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2860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397000" y="22606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A9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 week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9549">
            <a:off x="1016009" y="27241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A9FF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2946400"/>
            <a:ext cx="254000" cy="254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397000" y="3079750"/>
            <a:ext cx="431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Software Foundation Learning</a:t>
            </a:r>
            <a:endParaRPr lang="en-US" sz="16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Be familiar with the interface and core operation logic of the modeling software, and master the basic commands.</a:t>
            </a:r>
            <a:endParaRPr lang="en-US" sz="16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66800" y="4343400"/>
            <a:ext cx="254000" cy="254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440180" y="4453255"/>
            <a:ext cx="431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Component 3D modeling</a:t>
            </a:r>
            <a:endParaRPr lang="en-US" sz="16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Based on the design drawings, independently complete the 3D model drawing of all key components.</a:t>
            </a:r>
            <a:endParaRPr lang="en-US" sz="16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6350000" y="2032000"/>
            <a:ext cx="5080000" cy="4064000"/>
          </a:xfrm>
          <a:prstGeom prst="roundRect">
            <a:avLst>
              <a:gd name="adj" fmla="val 3125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A9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04000" y="22860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6985000" y="22606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A9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2 week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9549">
            <a:off x="6604009" y="27241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A9FF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7" name="Picture 17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04000" y="2762250"/>
            <a:ext cx="254000" cy="2540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6985000" y="2984500"/>
            <a:ext cx="431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Virtual assembly and interference check</a:t>
            </a:r>
            <a:endParaRPr lang="en-US" sz="16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Assemble the components, check for spatial interference, and ensure the structural rationality.</a:t>
            </a:r>
            <a:endParaRPr lang="en-US" sz="16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654800" y="4127500"/>
            <a:ext cx="254000" cy="2540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6985000" y="4343400"/>
            <a:ext cx="431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lnSpc>
                <a:spcPct val="125000"/>
              </a:lnSpc>
              <a:buSzTx/>
              <a:buNone/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Model modification and optimization</a:t>
            </a:r>
            <a:endParaRPr lang="en-US" sz="16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algn="l">
              <a:lnSpc>
                <a:spcPct val="125000"/>
              </a:lnSpc>
              <a:buSzTx/>
              <a:buNone/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Iterate the design based on the inspection results to enhance the model's accuracy and performance.</a:t>
            </a:r>
            <a:endParaRPr lang="en-US" sz="16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6858000" y="5362575"/>
            <a:ext cx="431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400" b="0" i="0" u="none" strike="noStrike">
              <a:solidFill>
                <a:srgbClr val="FFFFFF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762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Future Work Plan - Phase Two: Hardware Setup</a:t>
            </a:r>
            <a:endParaRPr lang="en-US" sz="3600" b="1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62000" y="1778000"/>
            <a:ext cx="5588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85000"/>
            </a:srgbClr>
          </a:solidFill>
          <a:ln w="12700" cap="flat" cmpd="sng">
            <a:solidFill>
              <a:srgbClr val="00A9FF">
                <a:alpha val="5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968500"/>
            <a:ext cx="355600" cy="3556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460500" y="19304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203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aim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311400"/>
            <a:ext cx="4953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Complete the hardware assembly of the robot, ensuring that the structure is stable and the circuit connections are normal.</a:t>
            </a:r>
            <a:endParaRPr lang="en-US" sz="1400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762000" y="3238500"/>
            <a:ext cx="5588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85000"/>
            </a:srgbClr>
          </a:solidFill>
          <a:ln w="12700" cap="flat" cmpd="sng">
            <a:solidFill>
              <a:srgbClr val="00A9FF">
                <a:alpha val="5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3429000"/>
            <a:ext cx="355600" cy="355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460500" y="33909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203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task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3771900"/>
            <a:ext cx="4953000" cy="158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-177800" algn="l">
              <a:lnSpc>
                <a:spcPct val="125000"/>
              </a:lnSpc>
              <a:buClr>
                <a:srgbClr val="1F2329"/>
              </a:buClr>
              <a:buChar char="•"/>
              <a:defRPr/>
            </a:pPr>
            <a:r>
              <a:rPr lang="en-US" altLang="zh-CN" sz="14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Process the mechanical components required according to the engineering drawings</a:t>
            </a:r>
            <a:endParaRPr lang="en-US" altLang="zh-CN" sz="1400" b="0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77800" indent="-177800" algn="l">
              <a:lnSpc>
                <a:spcPct val="125000"/>
              </a:lnSpc>
              <a:buClr>
                <a:srgbClr val="1F2329"/>
              </a:buClr>
              <a:buChar char="•"/>
              <a:defRPr/>
            </a:pPr>
            <a:r>
              <a:rPr lang="en-US" altLang="zh-CN" sz="14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Assemble the mechanical structure of the robot, install the servo motors and conduct initial debugging</a:t>
            </a:r>
            <a:endParaRPr lang="en-US" altLang="zh-CN" sz="1400" b="0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77800" indent="-177800" algn="l">
              <a:lnSpc>
                <a:spcPct val="125000"/>
              </a:lnSpc>
              <a:buClr>
                <a:srgbClr val="1F2329"/>
              </a:buClr>
              <a:buChar char="•"/>
              <a:defRPr/>
            </a:pPr>
            <a:r>
              <a:rPr lang="en-US" altLang="zh-CN" sz="14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Carry out hardware integration testing to ensure correct connections and normal communication of all components</a:t>
            </a:r>
            <a:endParaRPr lang="en-US" altLang="zh-CN" sz="1400" b="0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6604000" y="1778000"/>
            <a:ext cx="4826000" cy="2794000"/>
          </a:xfrm>
          <a:prstGeom prst="roundRect">
            <a:avLst>
              <a:gd name="adj" fmla="val 4545"/>
            </a:avLst>
          </a:prstGeom>
          <a:solidFill>
            <a:srgbClr val="FFFFFF">
              <a:alpha val="85000"/>
            </a:srgbClr>
          </a:solidFill>
          <a:ln w="12700" cap="flat" cmpd="sng">
            <a:solidFill>
              <a:srgbClr val="00A9FF">
                <a:alpha val="5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/>
          <a:srcRect t="22857" b="22857"/>
          <a:stretch>
            <a:fillRect/>
          </a:stretch>
        </p:blipFill>
        <p:spPr>
          <a:xfrm>
            <a:off x="6794500" y="1968500"/>
            <a:ext cx="4445000" cy="2413000"/>
          </a:xfrm>
          <a:prstGeom prst="roundRect">
            <a:avLst>
              <a:gd name="adj" fmla="val 5263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3" name="AutoShape 13"/>
          <p:cNvSpPr/>
          <p:nvPr/>
        </p:nvSpPr>
        <p:spPr>
          <a:xfrm>
            <a:off x="6604000" y="4762500"/>
            <a:ext cx="4826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85000"/>
            </a:srgbClr>
          </a:solidFill>
          <a:ln w="12700" cap="flat" cmpd="sng">
            <a:solidFill>
              <a:srgbClr val="00A9FF">
                <a:alpha val="5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858000" y="4953000"/>
            <a:ext cx="355600" cy="3556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7302500" y="49149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203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time plan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858000" y="52959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consume：2weeks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8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294005" y="1016000"/>
            <a:ext cx="1189736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Future Work Plan : Task Decomposition and Timeline</a:t>
            </a:r>
            <a:endParaRPr lang="en-US" sz="3600" b="1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762000" y="2159000"/>
            <a:ext cx="3302000" cy="4064000"/>
          </a:xfrm>
          <a:prstGeom prst="roundRect">
            <a:avLst>
              <a:gd name="adj" fmla="val 3846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A9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4130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2413000"/>
            <a:ext cx="2920365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A9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1-3week: fundation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5626">
            <a:off x="1016014" y="2914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2820" y="3075305"/>
            <a:ext cx="254000" cy="254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297940" y="3365500"/>
            <a:ext cx="266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Drive development</a:t>
            </a:r>
            <a:endParaRPr lang="en-US" sz="14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Write the servo drive and basic control code, and establish the hardware communication interface.</a:t>
            </a:r>
            <a:endParaRPr lang="en-US" sz="14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72820" y="4470400"/>
            <a:ext cx="254000" cy="254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270000" y="4676140"/>
            <a:ext cx="266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Prototype of the algorithm</a:t>
            </a:r>
            <a:endParaRPr lang="en-US" sz="14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Design and implement the initial gait algorithm to verify its theoretical feasibility.</a:t>
            </a:r>
            <a:endParaRPr lang="en-US" sz="14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4445000" y="2159000"/>
            <a:ext cx="3302000" cy="4064000"/>
          </a:xfrm>
          <a:prstGeom prst="roundRect">
            <a:avLst>
              <a:gd name="adj" fmla="val 3846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A9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699000" y="24130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5207000" y="24130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A9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4-8week：test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15626">
            <a:off x="4699014" y="2914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7" name="Picture 17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677410" y="3082290"/>
            <a:ext cx="254000" cy="2540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4998720" y="3329305"/>
            <a:ext cx="266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Software and hardware integration testing</a:t>
            </a:r>
            <a:endParaRPr lang="en-US" sz="14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Resolve the issue of control accuracy and ensure real-time system response.</a:t>
            </a:r>
            <a:endParaRPr lang="en-US" sz="14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677410" y="4676140"/>
            <a:ext cx="254000" cy="2540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4998720" y="4870450"/>
            <a:ext cx="266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Functional testing</a:t>
            </a:r>
            <a:endParaRPr lang="en-US" sz="14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Test the walking function, record abnormal data, and use it as a basis for optimization.</a:t>
            </a:r>
            <a:endParaRPr lang="en-US" sz="14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8128000" y="2159000"/>
            <a:ext cx="3302000" cy="4064000"/>
          </a:xfrm>
          <a:prstGeom prst="roundRect">
            <a:avLst>
              <a:gd name="adj" fmla="val 3846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A9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382000" y="2413000"/>
            <a:ext cx="406400" cy="4064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8890000" y="2413000"/>
            <a:ext cx="287782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A9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9-10week：</a:t>
            </a:r>
            <a:r>
              <a:rPr lang="en-US" sz="2000" b="1">
                <a:solidFill>
                  <a:srgbClr val="00A9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Optimization </a:t>
            </a:r>
            <a:endParaRPr lang="en-US" sz="2000" b="1">
              <a:solidFill>
                <a:srgbClr val="00A9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cxnSp>
        <p:nvCxnSpPr>
          <p:cNvPr id="24" name="Connector 24"/>
          <p:cNvCxnSpPr/>
          <p:nvPr/>
        </p:nvCxnSpPr>
        <p:spPr>
          <a:xfrm rot="-15626">
            <a:off x="8382014" y="2914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5" name="Picture 25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331200" y="3082290"/>
            <a:ext cx="254000" cy="2540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8699500" y="3256915"/>
            <a:ext cx="266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lnSpc>
                <a:spcPct val="125000"/>
              </a:lnSpc>
              <a:buSzTx/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Parameter optimization</a:t>
            </a:r>
            <a:endParaRPr lang="en-US" sz="14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algn="l">
              <a:lnSpc>
                <a:spcPct val="125000"/>
              </a:lnSpc>
              <a:buSzTx/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Optimize the control algorithm based on test data to enhance gait stability.</a:t>
            </a:r>
            <a:endParaRPr lang="en-US" sz="14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445500" y="4329430"/>
            <a:ext cx="254000" cy="2540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8757285" y="4583430"/>
            <a:ext cx="266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Stage acceptance</a:t>
            </a:r>
            <a:endParaRPr lang="en-US" sz="14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Achieve stable walking and complete the set goals of the third stage.</a:t>
            </a:r>
            <a:endParaRPr lang="en-US" sz="14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762000" y="1016000"/>
            <a:ext cx="10668000" cy="635000"/>
          </a:xfrm>
          <a:prstGeom prst="rect">
            <a:avLst/>
          </a:prstGeom>
          <a:solidFill>
            <a:srgbClr val="000000">
              <a:alpha val="5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Summary and Outlook</a:t>
            </a:r>
            <a:endParaRPr lang="en-US" sz="3600" b="1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762000" y="2032000"/>
            <a:ext cx="5143500" cy="3810000"/>
          </a:xfrm>
          <a:prstGeom prst="roundRect">
            <a:avLst>
              <a:gd name="adj" fmla="val 3333"/>
            </a:avLst>
          </a:prstGeom>
          <a:solidFill>
            <a:srgbClr val="0A192D">
              <a:alpha val="90000"/>
            </a:srgbClr>
          </a:solidFill>
          <a:ln w="12700" cap="flat" cmpd="sng">
            <a:solidFill>
              <a:srgbClr val="00A9FF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6800" y="23368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>
            <p:custDataLst>
              <p:tags r:id="rId6"/>
            </p:custDataLst>
          </p:nvPr>
        </p:nvSpPr>
        <p:spPr>
          <a:xfrm>
            <a:off x="1574800" y="2336800"/>
            <a:ext cx="381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>
                <a:solidFill>
                  <a:srgbClr val="00A9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Project Summary: Strengthening the Foundation</a:t>
            </a:r>
            <a:endParaRPr lang="en-US" sz="2000" b="1">
              <a:solidFill>
                <a:srgbClr val="00A9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cxnSp>
        <p:nvCxnSpPr>
          <p:cNvPr id="7" name="Connector 7"/>
          <p:cNvCxnSpPr/>
          <p:nvPr>
            <p:custDataLst>
              <p:tags r:id="rId7"/>
            </p:custDataLst>
          </p:nvPr>
        </p:nvCxnSpPr>
        <p:spPr>
          <a:xfrm rot="-9629">
            <a:off x="1066809" y="2838450"/>
            <a:ext cx="45339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A9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>
            <p:custDataLst>
              <p:tags r:id="rId8"/>
            </p:custDataLst>
          </p:nvPr>
        </p:nvSpPr>
        <p:spPr>
          <a:xfrm>
            <a:off x="1066800" y="2971800"/>
            <a:ext cx="45339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-177800" algn="l">
              <a:lnSpc>
                <a:spcPct val="125000"/>
              </a:lnSpc>
              <a:buClr>
                <a:srgbClr val="E5E7EB"/>
              </a:buClr>
              <a:buChar char="•"/>
              <a:defRPr/>
            </a:pPr>
            <a:r>
              <a:rPr lang="en-US" sz="1400" b="1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Scheme Design: Completed the overall architecture design of the biped robot and selected the key components.</a:t>
            </a:r>
            <a:endParaRPr lang="en-US" sz="1400" b="1" i="0" u="none" strike="noStrike">
              <a:solidFill>
                <a:srgbClr val="E5E7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77800" indent="-177800" algn="l">
              <a:lnSpc>
                <a:spcPct val="125000"/>
              </a:lnSpc>
              <a:buClr>
                <a:srgbClr val="E5E7EB"/>
              </a:buClr>
              <a:buChar char="•"/>
              <a:defRPr/>
            </a:pPr>
            <a:r>
              <a:rPr lang="en-US" sz="1400" b="1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Theoretical Foundation: Conducted comprehensive data collection and analysis on mechanical structure, electronic control, and software algorithms.</a:t>
            </a:r>
            <a:endParaRPr lang="en-US" sz="1400" b="1" i="0" u="none" strike="noStrike">
              <a:solidFill>
                <a:srgbClr val="E5E7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77800" indent="-177800" algn="l">
              <a:lnSpc>
                <a:spcPct val="125000"/>
              </a:lnSpc>
              <a:buClr>
                <a:srgbClr val="E5E7EB"/>
              </a:buClr>
              <a:buChar char="•"/>
              <a:defRPr/>
            </a:pPr>
            <a:r>
              <a:rPr lang="en-US" sz="1400" b="1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Current Status: Currently in the preparatory stage, laying a solid foundation for subsequent implementation.</a:t>
            </a:r>
            <a:endParaRPr lang="en-US" sz="1400" b="1" i="0" u="none" strike="noStrike">
              <a:solidFill>
                <a:srgbClr val="E5E7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>
            <p:custDataLst>
              <p:tags r:id="rId9"/>
            </p:custDataLst>
          </p:nvPr>
        </p:nvSpPr>
        <p:spPr>
          <a:xfrm>
            <a:off x="6286500" y="2032000"/>
            <a:ext cx="5143500" cy="3810000"/>
          </a:xfrm>
          <a:prstGeom prst="roundRect">
            <a:avLst>
              <a:gd name="adj" fmla="val 3333"/>
            </a:avLst>
          </a:prstGeom>
          <a:solidFill>
            <a:srgbClr val="0A192D">
              <a:alpha val="90000"/>
            </a:srgbClr>
          </a:solidFill>
          <a:ln w="12700" cap="flat" cmpd="sng">
            <a:solidFill>
              <a:srgbClr val="00F5FF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591300" y="23368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>
            <p:custDataLst>
              <p:tags r:id="rId13"/>
            </p:custDataLst>
          </p:nvPr>
        </p:nvSpPr>
        <p:spPr>
          <a:xfrm>
            <a:off x="7099300" y="2336800"/>
            <a:ext cx="381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>
                <a:solidFill>
                  <a:srgbClr val="00F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Future Outlook: Intelligent Upgrade</a:t>
            </a:r>
            <a:endParaRPr lang="en-US" sz="2000" b="1">
              <a:solidFill>
                <a:srgbClr val="00F5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cxnSp>
        <p:nvCxnSpPr>
          <p:cNvPr id="12" name="Connector 12"/>
          <p:cNvCxnSpPr/>
          <p:nvPr>
            <p:custDataLst>
              <p:tags r:id="rId14"/>
            </p:custDataLst>
          </p:nvPr>
        </p:nvCxnSpPr>
        <p:spPr>
          <a:xfrm rot="-9629">
            <a:off x="6591309" y="2838450"/>
            <a:ext cx="45339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F5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>
            <p:custDataLst>
              <p:tags r:id="rId15"/>
            </p:custDataLst>
          </p:nvPr>
        </p:nvSpPr>
        <p:spPr>
          <a:xfrm>
            <a:off x="6591300" y="2971800"/>
            <a:ext cx="45339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-177800" algn="l">
              <a:lnSpc>
                <a:spcPct val="125000"/>
              </a:lnSpc>
              <a:buClr>
                <a:srgbClr val="E5E7EB"/>
              </a:buClr>
              <a:buChar char="•"/>
              <a:defRPr/>
            </a:pPr>
            <a:r>
              <a:rPr lang="en-US" sz="1400" b="1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Perception Enhancement: Integrating ultrasonic and infrared sensors to achieve autonomous obstacle avoidance functionality.</a:t>
            </a:r>
            <a:endParaRPr lang="en-US" sz="1400" b="1" i="0" u="none" strike="noStrike">
              <a:solidFill>
                <a:srgbClr val="E5E7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77800" indent="-177800" algn="l">
              <a:lnSpc>
                <a:spcPct val="125000"/>
              </a:lnSpc>
              <a:buClr>
                <a:srgbClr val="E5E7EB"/>
              </a:buClr>
              <a:buChar char="•"/>
              <a:defRPr/>
            </a:pPr>
            <a:r>
              <a:rPr lang="en-US" sz="1400" b="1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Motion Optimization: Iterative gait algorithm to pursue a more natural and efficient bipedal walking experience.</a:t>
            </a:r>
            <a:endParaRPr lang="en-US" sz="1400" b="1" i="0" u="none" strike="noStrike">
              <a:solidFill>
                <a:srgbClr val="E5E7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77800" indent="-177800" algn="l">
              <a:lnSpc>
                <a:spcPct val="125000"/>
              </a:lnSpc>
              <a:buClr>
                <a:srgbClr val="E5E7EB"/>
              </a:buClr>
              <a:buChar char="•"/>
              <a:defRPr/>
            </a:pPr>
            <a:r>
              <a:rPr lang="en-US" sz="1400" b="1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Human-Machine Interaction: Incorporating a visual recognition module to explore the possibilities of human-machine interaction.</a:t>
            </a:r>
            <a:endParaRPr lang="en-US" sz="1400" b="1" i="0" u="none" strike="noStrike">
              <a:solidFill>
                <a:srgbClr val="E5E7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tags/tag1.xml><?xml version="1.0" encoding="utf-8"?>
<p:tagLst xmlns:p="http://schemas.openxmlformats.org/presentationml/2006/main">
  <p:tag name="KSO_WM_DIAGRAM_VIRTUALLY_FRAME" val="{&quot;height&quot;:310,&quot;left&quot;:84,&quot;top&quot;:175,&quot;width&quot;:746}"/>
</p:tagLst>
</file>

<file path=ppt/tags/tag2.xml><?xml version="1.0" encoding="utf-8"?>
<p:tagLst xmlns:p="http://schemas.openxmlformats.org/presentationml/2006/main">
  <p:tag name="KSO_WM_DIAGRAM_VIRTUALLY_FRAME" val="{&quot;height&quot;:310,&quot;left&quot;:84,&quot;top&quot;:175,&quot;width&quot;:746}"/>
</p:tagLst>
</file>

<file path=ppt/tags/tag3.xml><?xml version="1.0" encoding="utf-8"?>
<p:tagLst xmlns:p="http://schemas.openxmlformats.org/presentationml/2006/main">
  <p:tag name="KSO_WM_DIAGRAM_VIRTUALLY_FRAME" val="{&quot;height&quot;:310,&quot;left&quot;:84,&quot;top&quot;:175,&quot;width&quot;:746}"/>
</p:tagLst>
</file>

<file path=ppt/tags/tag4.xml><?xml version="1.0" encoding="utf-8"?>
<p:tagLst xmlns:p="http://schemas.openxmlformats.org/presentationml/2006/main">
  <p:tag name="KSO_WM_DIAGRAM_VIRTUALLY_FRAME" val="{&quot;height&quot;:310,&quot;left&quot;:84,&quot;top&quot;:175,&quot;width&quot;:746}"/>
</p:tagLst>
</file>

<file path=ppt/tags/tag5.xml><?xml version="1.0" encoding="utf-8"?>
<p:tagLst xmlns:p="http://schemas.openxmlformats.org/presentationml/2006/main">
  <p:tag name="KSO_WM_DIAGRAM_VIRTUALLY_FRAME" val="{&quot;height&quot;:310,&quot;left&quot;:84,&quot;top&quot;:175,&quot;width&quot;:746}"/>
</p:tagLst>
</file>

<file path=ppt/tags/tag6.xml><?xml version="1.0" encoding="utf-8"?>
<p:tagLst xmlns:p="http://schemas.openxmlformats.org/presentationml/2006/main">
  <p:tag name="KSO_WM_DIAGRAM_VIRTUALLY_FRAME" val="{&quot;height&quot;:310,&quot;left&quot;:84,&quot;top&quot;:175,&quot;width&quot;:746}"/>
</p:tagLst>
</file>

<file path=ppt/tags/tag7.xml><?xml version="1.0" encoding="utf-8"?>
<p:tagLst xmlns:p="http://schemas.openxmlformats.org/presentationml/2006/main">
  <p:tag name="KSO_WM_DIAGRAM_VIRTUALLY_FRAME" val="{&quot;height&quot;:310,&quot;left&quot;:84,&quot;top&quot;:175,&quot;width&quot;:746}"/>
</p:tagLst>
</file>

<file path=ppt/tags/tag8.xml><?xml version="1.0" encoding="utf-8"?>
<p:tagLst xmlns:p="http://schemas.openxmlformats.org/presentationml/2006/main">
  <p:tag name="KSO_WM_DIAGRAM_VIRTUALLY_FRAME" val="{&quot;height&quot;:310,&quot;left&quot;:84,&quot;top&quot;:175,&quot;width&quot;:746}"/>
</p:tagLst>
</file>

<file path=ppt/tags/tag9.xml><?xml version="1.0" encoding="utf-8"?>
<p:tagLst xmlns:p="http://schemas.openxmlformats.org/presentationml/2006/main">
  <p:tag name="KSO_WM_DIAGRAM_VIRTUALLY_FRAME" val="{&quot;height&quot;:310,&quot;left&quot;:84,&quot;top&quot;:175,&quot;width&quot;:746}"/>
</p:tagLst>
</file>

<file path=ppt/tags/tag10.xml><?xml version="1.0" encoding="utf-8"?>
<p:tagLst xmlns:p="http://schemas.openxmlformats.org/presentationml/2006/main">
  <p:tag name="KSO_WM_DIAGRAM_VIRTUALLY_FRAME" val="{&quot;height&quot;:310,&quot;left&quot;:84,&quot;top&quot;:175,&quot;width&quot;:746}"/>
</p:tagLst>
</file>

<file path=ppt/tags/tag11.xml><?xml version="1.0" encoding="utf-8"?>
<p:tagLst xmlns:p="http://schemas.openxmlformats.org/presentationml/2006/main">
  <p:tag name="KSO_WM_DIAGRAM_VIRTUALLY_FRAME" val="{&quot;height&quot;:280,&quot;left&quot;:60,&quot;top&quot;:170,&quot;width&quot;:840}"/>
</p:tagLst>
</file>

<file path=ppt/tags/tag12.xml><?xml version="1.0" encoding="utf-8"?>
<p:tagLst xmlns:p="http://schemas.openxmlformats.org/presentationml/2006/main">
  <p:tag name="KSO_WM_DIAGRAM_VIRTUALLY_FRAME" val="{&quot;height&quot;:280,&quot;left&quot;:60,&quot;top&quot;:170,&quot;width&quot;:840}"/>
</p:tagLst>
</file>

<file path=ppt/tags/tag13.xml><?xml version="1.0" encoding="utf-8"?>
<p:tagLst xmlns:p="http://schemas.openxmlformats.org/presentationml/2006/main">
  <p:tag name="KSO_WM_DIAGRAM_VIRTUALLY_FRAME" val="{&quot;height&quot;:280,&quot;left&quot;:60,&quot;top&quot;:170,&quot;width&quot;:840}"/>
</p:tagLst>
</file>

<file path=ppt/tags/tag14.xml><?xml version="1.0" encoding="utf-8"?>
<p:tagLst xmlns:p="http://schemas.openxmlformats.org/presentationml/2006/main">
  <p:tag name="KSO_WM_DIAGRAM_VIRTUALLY_FRAME" val="{&quot;height&quot;:280,&quot;left&quot;:60,&quot;top&quot;:170,&quot;width&quot;:840}"/>
</p:tagLst>
</file>

<file path=ppt/tags/tag15.xml><?xml version="1.0" encoding="utf-8"?>
<p:tagLst xmlns:p="http://schemas.openxmlformats.org/presentationml/2006/main">
  <p:tag name="KSO_WM_DIAGRAM_VIRTUALLY_FRAME" val="{&quot;height&quot;:280,&quot;left&quot;:60,&quot;top&quot;:170,&quot;width&quot;:840}"/>
</p:tagLst>
</file>

<file path=ppt/tags/tag16.xml><?xml version="1.0" encoding="utf-8"?>
<p:tagLst xmlns:p="http://schemas.openxmlformats.org/presentationml/2006/main">
  <p:tag name="KSO_WM_DIAGRAM_VIRTUALLY_FRAME" val="{&quot;height&quot;:280,&quot;left&quot;:60,&quot;top&quot;:170,&quot;width&quot;:840}"/>
</p:tagLst>
</file>

<file path=ppt/tags/tag17.xml><?xml version="1.0" encoding="utf-8"?>
<p:tagLst xmlns:p="http://schemas.openxmlformats.org/presentationml/2006/main">
  <p:tag name="KSO_WM_DIAGRAM_VIRTUALLY_FRAME" val="{&quot;height&quot;:280,&quot;left&quot;:60,&quot;top&quot;:170,&quot;width&quot;:840}"/>
</p:tagLst>
</file>

<file path=ppt/tags/tag18.xml><?xml version="1.0" encoding="utf-8"?>
<p:tagLst xmlns:p="http://schemas.openxmlformats.org/presentationml/2006/main">
  <p:tag name="KSO_WM_DIAGRAM_VIRTUALLY_FRAME" val="{&quot;height&quot;:280,&quot;left&quot;:60,&quot;top&quot;:170,&quot;width&quot;:840}"/>
</p:tagLst>
</file>

<file path=ppt/tags/tag19.xml><?xml version="1.0" encoding="utf-8"?>
<p:tagLst xmlns:p="http://schemas.openxmlformats.org/presentationml/2006/main">
  <p:tag name="KSO_WM_DIAGRAM_VIRTUALLY_FRAME" val="{&quot;height&quot;:280,&quot;left&quot;:60,&quot;top&quot;:170,&quot;width&quot;:840}"/>
</p:tagLst>
</file>

<file path=ppt/tags/tag20.xml><?xml version="1.0" encoding="utf-8"?>
<p:tagLst xmlns:p="http://schemas.openxmlformats.org/presentationml/2006/main">
  <p:tag name="KSO_WM_DIAGRAM_VIRTUALLY_FRAME" val="{&quot;height&quot;:280,&quot;left&quot;:60,&quot;top&quot;:170,&quot;width&quot;:840}"/>
</p:tagLst>
</file>

<file path=ppt/tags/tag21.xml><?xml version="1.0" encoding="utf-8"?>
<p:tagLst xmlns:p="http://schemas.openxmlformats.org/presentationml/2006/main">
  <p:tag name="KSO_WM_DIAGRAM_VIRTUALLY_FRAME" val="{&quot;height&quot;:300,&quot;left&quot;:60,&quot;top&quot;:160,&quot;width&quot;:840}"/>
</p:tagLst>
</file>

<file path=ppt/tags/tag22.xml><?xml version="1.0" encoding="utf-8"?>
<p:tagLst xmlns:p="http://schemas.openxmlformats.org/presentationml/2006/main">
  <p:tag name="KSO_WM_DIAGRAM_VIRTUALLY_FRAME" val="{&quot;height&quot;:300,&quot;left&quot;:60,&quot;top&quot;:160,&quot;width&quot;:840}"/>
</p:tagLst>
</file>

<file path=ppt/tags/tag23.xml><?xml version="1.0" encoding="utf-8"?>
<p:tagLst xmlns:p="http://schemas.openxmlformats.org/presentationml/2006/main">
  <p:tag name="KSO_WM_DIAGRAM_VIRTUALLY_FRAME" val="{&quot;height&quot;:300,&quot;left&quot;:60,&quot;top&quot;:160,&quot;width&quot;:840}"/>
</p:tagLst>
</file>

<file path=ppt/tags/tag24.xml><?xml version="1.0" encoding="utf-8"?>
<p:tagLst xmlns:p="http://schemas.openxmlformats.org/presentationml/2006/main">
  <p:tag name="KSO_WM_DIAGRAM_VIRTUALLY_FRAME" val="{&quot;height&quot;:300,&quot;left&quot;:60,&quot;top&quot;:160,&quot;width&quot;:840}"/>
</p:tagLst>
</file>

<file path=ppt/tags/tag25.xml><?xml version="1.0" encoding="utf-8"?>
<p:tagLst xmlns:p="http://schemas.openxmlformats.org/presentationml/2006/main">
  <p:tag name="KSO_WM_DIAGRAM_VIRTUALLY_FRAME" val="{&quot;height&quot;:300,&quot;left&quot;:60,&quot;top&quot;:160,&quot;width&quot;:840}"/>
</p:tagLst>
</file>

<file path=ppt/tags/tag26.xml><?xml version="1.0" encoding="utf-8"?>
<p:tagLst xmlns:p="http://schemas.openxmlformats.org/presentationml/2006/main">
  <p:tag name="KSO_WM_DIAGRAM_VIRTUALLY_FRAME" val="{&quot;height&quot;:300,&quot;left&quot;:60,&quot;top&quot;:160,&quot;width&quot;:840}"/>
</p:tagLst>
</file>

<file path=ppt/tags/tag27.xml><?xml version="1.0" encoding="utf-8"?>
<p:tagLst xmlns:p="http://schemas.openxmlformats.org/presentationml/2006/main">
  <p:tag name="KSO_WM_DIAGRAM_VIRTUALLY_FRAME" val="{&quot;height&quot;:300,&quot;left&quot;:60,&quot;top&quot;:160,&quot;width&quot;:840}"/>
</p:tagLst>
</file>

<file path=ppt/tags/tag28.xml><?xml version="1.0" encoding="utf-8"?>
<p:tagLst xmlns:p="http://schemas.openxmlformats.org/presentationml/2006/main">
  <p:tag name="KSO_WM_DIAGRAM_VIRTUALLY_FRAME" val="{&quot;height&quot;:300,&quot;left&quot;:60,&quot;top&quot;:160,&quot;width&quot;:840}"/>
</p:tagLst>
</file>

<file path=ppt/tags/tag29.xml><?xml version="1.0" encoding="utf-8"?>
<p:tagLst xmlns:p="http://schemas.openxmlformats.org/presentationml/2006/main">
  <p:tag name="KSO_WM_DIAGRAM_VIRTUALLY_FRAME" val="{&quot;height&quot;:300,&quot;left&quot;:60,&quot;top&quot;:160,&quot;width&quot;:840}"/>
</p:tagLst>
</file>

<file path=ppt/tags/tag30.xml><?xml version="1.0" encoding="utf-8"?>
<p:tagLst xmlns:p="http://schemas.openxmlformats.org/presentationml/2006/main">
  <p:tag name="KSO_WM_DIAGRAM_VIRTUALLY_FRAME" val="{&quot;height&quot;:300,&quot;left&quot;:60,&quot;top&quot;:160,&quot;width&quot;:840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5145</Words>
  <Application>WPS 演示</Application>
  <PresentationFormat/>
  <Paragraphs>160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11</vt:i4>
      </vt:variant>
    </vt:vector>
  </HeadingPairs>
  <TitlesOfParts>
    <vt:vector size="23" baseType="lpstr">
      <vt:lpstr>Arial</vt:lpstr>
      <vt:lpstr>宋体</vt:lpstr>
      <vt:lpstr>Wingdings</vt:lpstr>
      <vt:lpstr>Arial</vt:lpstr>
      <vt:lpstr>Noto Sans SC</vt:lpstr>
      <vt:lpstr>Poppins</vt:lpstr>
      <vt:lpstr>Segoe Print</vt:lpstr>
      <vt:lpstr>微软雅黑</vt:lpstr>
      <vt:lpstr>Arial Unicode MS</vt:lpstr>
      <vt:lpstr>Office 主题​​</vt:lpstr>
      <vt:lpstr>默认主题</vt:lpstr>
      <vt:lpstr>1_默认主题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WPS_1602085641</cp:lastModifiedBy>
  <cp:revision>11</cp:revision>
  <dcterms:created xsi:type="dcterms:W3CDTF">2026-03-05T05:04:00Z</dcterms:created>
  <dcterms:modified xsi:type="dcterms:W3CDTF">2026-03-07T07:08:25Z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C3581339CD1C4A039F7920DDDCD6DD79_12</vt:lpwstr>
  </property>
</Properties>
</file>